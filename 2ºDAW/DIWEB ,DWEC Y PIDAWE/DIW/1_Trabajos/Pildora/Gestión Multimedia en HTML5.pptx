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attanakarn Expanded" charset="1" panose="00000000000000000000"/>
      <p:regular r:id="rId15"/>
    </p:embeddedFont>
    <p:embeddedFont>
      <p:font typeface="Saira" charset="1" panose="00000500000000000000"/>
      <p:regular r:id="rId16"/>
    </p:embeddedFont>
    <p:embeddedFont>
      <p:font typeface="Saira Bold" charset="1" panose="00000800000000000000"/>
      <p:regular r:id="rId17"/>
    </p:embeddedFont>
    <p:embeddedFont>
      <p:font typeface="Saira Light" charset="1" panose="00000400000000000000"/>
      <p:regular r:id="rId18"/>
    </p:embeddedFont>
    <p:embeddedFont>
      <p:font typeface="DM Sans Bold" charset="1" panose="00000000000000000000"/>
      <p:regular r:id="rId19"/>
    </p:embeddedFont>
    <p:embeddedFont>
      <p:font typeface="Pattanakarn Expanded Bold" charset="1" panose="00000000000000000000"/>
      <p:regular r:id="rId20"/>
    </p:embeddedFont>
    <p:embeddedFont>
      <p:font typeface="Saira Extra-Light" charset="1" panose="00000300000000000000"/>
      <p:regular r:id="rId21"/>
    </p:embeddedFont>
    <p:embeddedFont>
      <p:font typeface="Saira Medium" charset="1" panose="000006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28095" y="737568"/>
            <a:ext cx="8517545" cy="6264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61"/>
              </a:lnSpc>
            </a:pPr>
            <a:r>
              <a:rPr lang="en-US" sz="10615" spc="84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Gestión Multimedia en HTML5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49464" y="9088567"/>
            <a:ext cx="6251386" cy="43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2"/>
              </a:lnSpc>
            </a:pPr>
            <a:r>
              <a:rPr lang="en-US" sz="2942" spc="123">
                <a:solidFill>
                  <a:srgbClr val="71DDEB"/>
                </a:solidFill>
                <a:latin typeface="Saira"/>
                <a:ea typeface="Saira"/>
                <a:cs typeface="Saira"/>
                <a:sym typeface="Saira"/>
              </a:rPr>
              <a:t>Pablo Suárez García 2ºDAW-DIW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49464" y="6790655"/>
            <a:ext cx="6251386" cy="101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9"/>
              </a:lnSpc>
            </a:pPr>
            <a:r>
              <a:rPr lang="en-US" sz="2942" spc="123">
                <a:solidFill>
                  <a:srgbClr val="71DDEB"/>
                </a:solidFill>
                <a:latin typeface="Saira"/>
                <a:ea typeface="Saira"/>
                <a:cs typeface="Saira"/>
                <a:sym typeface="Saira"/>
              </a:rPr>
              <a:t>Imágenes Responsivas, Audio y Vídeo Avanzado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53328" y="3956274"/>
            <a:ext cx="1010106" cy="749950"/>
            <a:chOff x="0" y="0"/>
            <a:chExt cx="205815" cy="1528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5815" cy="152807"/>
            </a:xfrm>
            <a:custGeom>
              <a:avLst/>
              <a:gdLst/>
              <a:ahLst/>
              <a:cxnLst/>
              <a:rect r="r" b="b" t="t" l="l"/>
              <a:pathLst>
                <a:path h="152807" w="205815">
                  <a:moveTo>
                    <a:pt x="53651" y="0"/>
                  </a:moveTo>
                  <a:lnTo>
                    <a:pt x="152164" y="0"/>
                  </a:lnTo>
                  <a:cubicBezTo>
                    <a:pt x="166393" y="0"/>
                    <a:pt x="180039" y="5653"/>
                    <a:pt x="190101" y="15714"/>
                  </a:cubicBezTo>
                  <a:cubicBezTo>
                    <a:pt x="200162" y="25776"/>
                    <a:pt x="205815" y="39422"/>
                    <a:pt x="205815" y="53651"/>
                  </a:cubicBezTo>
                  <a:lnTo>
                    <a:pt x="205815" y="99155"/>
                  </a:lnTo>
                  <a:cubicBezTo>
                    <a:pt x="205815" y="113385"/>
                    <a:pt x="200162" y="127031"/>
                    <a:pt x="190101" y="137093"/>
                  </a:cubicBezTo>
                  <a:cubicBezTo>
                    <a:pt x="180039" y="147154"/>
                    <a:pt x="166393" y="152807"/>
                    <a:pt x="152164" y="152807"/>
                  </a:cubicBezTo>
                  <a:lnTo>
                    <a:pt x="53651" y="152807"/>
                  </a:lnTo>
                  <a:cubicBezTo>
                    <a:pt x="24020" y="152807"/>
                    <a:pt x="0" y="128786"/>
                    <a:pt x="0" y="99155"/>
                  </a:cubicBezTo>
                  <a:lnTo>
                    <a:pt x="0" y="53651"/>
                  </a:lnTo>
                  <a:cubicBezTo>
                    <a:pt x="0" y="39422"/>
                    <a:pt x="5653" y="25776"/>
                    <a:pt x="15714" y="15714"/>
                  </a:cubicBezTo>
                  <a:cubicBezTo>
                    <a:pt x="25776" y="5653"/>
                    <a:pt x="39422" y="0"/>
                    <a:pt x="536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5815" cy="200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8"/>
                </a:lnSpc>
                <a:spcBef>
                  <a:spcPct val="0"/>
                </a:spcBef>
              </a:pPr>
              <a:r>
                <a:rPr lang="en-US" b="true" sz="2234" spc="290" strike="noStrike" u="none">
                  <a:solidFill>
                    <a:srgbClr val="181B2E"/>
                  </a:solidFill>
                  <a:latin typeface="Saira Bold"/>
                  <a:ea typeface="Saira Bold"/>
                  <a:cs typeface="Saira Bold"/>
                  <a:sym typeface="Saira Bold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53328" y="5746011"/>
            <a:ext cx="1010106" cy="749950"/>
            <a:chOff x="0" y="0"/>
            <a:chExt cx="205815" cy="1528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815" cy="152807"/>
            </a:xfrm>
            <a:custGeom>
              <a:avLst/>
              <a:gdLst/>
              <a:ahLst/>
              <a:cxnLst/>
              <a:rect r="r" b="b" t="t" l="l"/>
              <a:pathLst>
                <a:path h="152807" w="205815">
                  <a:moveTo>
                    <a:pt x="53651" y="0"/>
                  </a:moveTo>
                  <a:lnTo>
                    <a:pt x="152164" y="0"/>
                  </a:lnTo>
                  <a:cubicBezTo>
                    <a:pt x="166393" y="0"/>
                    <a:pt x="180039" y="5653"/>
                    <a:pt x="190101" y="15714"/>
                  </a:cubicBezTo>
                  <a:cubicBezTo>
                    <a:pt x="200162" y="25776"/>
                    <a:pt x="205815" y="39422"/>
                    <a:pt x="205815" y="53651"/>
                  </a:cubicBezTo>
                  <a:lnTo>
                    <a:pt x="205815" y="99155"/>
                  </a:lnTo>
                  <a:cubicBezTo>
                    <a:pt x="205815" y="113385"/>
                    <a:pt x="200162" y="127031"/>
                    <a:pt x="190101" y="137093"/>
                  </a:cubicBezTo>
                  <a:cubicBezTo>
                    <a:pt x="180039" y="147154"/>
                    <a:pt x="166393" y="152807"/>
                    <a:pt x="152164" y="152807"/>
                  </a:cubicBezTo>
                  <a:lnTo>
                    <a:pt x="53651" y="152807"/>
                  </a:lnTo>
                  <a:cubicBezTo>
                    <a:pt x="24020" y="152807"/>
                    <a:pt x="0" y="128786"/>
                    <a:pt x="0" y="99155"/>
                  </a:cubicBezTo>
                  <a:lnTo>
                    <a:pt x="0" y="53651"/>
                  </a:lnTo>
                  <a:cubicBezTo>
                    <a:pt x="0" y="39422"/>
                    <a:pt x="5653" y="25776"/>
                    <a:pt x="15714" y="15714"/>
                  </a:cubicBezTo>
                  <a:cubicBezTo>
                    <a:pt x="25776" y="5653"/>
                    <a:pt x="39422" y="0"/>
                    <a:pt x="536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05815" cy="1432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525"/>
                </a:lnSpc>
              </a:pPr>
              <a:r>
                <a:rPr lang="en-US" b="true" sz="2234" spc="290">
                  <a:solidFill>
                    <a:srgbClr val="181B2E"/>
                  </a:solidFill>
                  <a:latin typeface="Saira Bold"/>
                  <a:ea typeface="Saira Bold"/>
                  <a:cs typeface="Saira Bold"/>
                  <a:sym typeface="Saira Bold"/>
                </a:rPr>
                <a:t>04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53328" y="7535747"/>
            <a:ext cx="1010106" cy="749950"/>
            <a:chOff x="0" y="0"/>
            <a:chExt cx="205815" cy="1528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5815" cy="152807"/>
            </a:xfrm>
            <a:custGeom>
              <a:avLst/>
              <a:gdLst/>
              <a:ahLst/>
              <a:cxnLst/>
              <a:rect r="r" b="b" t="t" l="l"/>
              <a:pathLst>
                <a:path h="152807" w="205815">
                  <a:moveTo>
                    <a:pt x="53651" y="0"/>
                  </a:moveTo>
                  <a:lnTo>
                    <a:pt x="152164" y="0"/>
                  </a:lnTo>
                  <a:cubicBezTo>
                    <a:pt x="166393" y="0"/>
                    <a:pt x="180039" y="5653"/>
                    <a:pt x="190101" y="15714"/>
                  </a:cubicBezTo>
                  <a:cubicBezTo>
                    <a:pt x="200162" y="25776"/>
                    <a:pt x="205815" y="39422"/>
                    <a:pt x="205815" y="53651"/>
                  </a:cubicBezTo>
                  <a:lnTo>
                    <a:pt x="205815" y="99155"/>
                  </a:lnTo>
                  <a:cubicBezTo>
                    <a:pt x="205815" y="113385"/>
                    <a:pt x="200162" y="127031"/>
                    <a:pt x="190101" y="137093"/>
                  </a:cubicBezTo>
                  <a:cubicBezTo>
                    <a:pt x="180039" y="147154"/>
                    <a:pt x="166393" y="152807"/>
                    <a:pt x="152164" y="152807"/>
                  </a:cubicBezTo>
                  <a:lnTo>
                    <a:pt x="53651" y="152807"/>
                  </a:lnTo>
                  <a:cubicBezTo>
                    <a:pt x="24020" y="152807"/>
                    <a:pt x="0" y="128786"/>
                    <a:pt x="0" y="99155"/>
                  </a:cubicBezTo>
                  <a:lnTo>
                    <a:pt x="0" y="53651"/>
                  </a:lnTo>
                  <a:cubicBezTo>
                    <a:pt x="0" y="39422"/>
                    <a:pt x="5653" y="25776"/>
                    <a:pt x="15714" y="15714"/>
                  </a:cubicBezTo>
                  <a:cubicBezTo>
                    <a:pt x="25776" y="5653"/>
                    <a:pt x="39422" y="0"/>
                    <a:pt x="536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205815" cy="1432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525"/>
                </a:lnSpc>
              </a:pPr>
              <a:r>
                <a:rPr lang="en-US" b="true" sz="2234" spc="290">
                  <a:solidFill>
                    <a:srgbClr val="181B2E"/>
                  </a:solidFill>
                  <a:latin typeface="Saira Bold"/>
                  <a:ea typeface="Saira Bold"/>
                  <a:cs typeface="Saira Bold"/>
                  <a:sym typeface="Saira Bold"/>
                </a:rPr>
                <a:t>07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54909" y="3956274"/>
            <a:ext cx="1010106" cy="749950"/>
            <a:chOff x="0" y="0"/>
            <a:chExt cx="205815" cy="1528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5815" cy="152807"/>
            </a:xfrm>
            <a:custGeom>
              <a:avLst/>
              <a:gdLst/>
              <a:ahLst/>
              <a:cxnLst/>
              <a:rect r="r" b="b" t="t" l="l"/>
              <a:pathLst>
                <a:path h="152807" w="205815">
                  <a:moveTo>
                    <a:pt x="53651" y="0"/>
                  </a:moveTo>
                  <a:lnTo>
                    <a:pt x="152164" y="0"/>
                  </a:lnTo>
                  <a:cubicBezTo>
                    <a:pt x="166393" y="0"/>
                    <a:pt x="180039" y="5653"/>
                    <a:pt x="190101" y="15714"/>
                  </a:cubicBezTo>
                  <a:cubicBezTo>
                    <a:pt x="200162" y="25776"/>
                    <a:pt x="205815" y="39422"/>
                    <a:pt x="205815" y="53651"/>
                  </a:cubicBezTo>
                  <a:lnTo>
                    <a:pt x="205815" y="99155"/>
                  </a:lnTo>
                  <a:cubicBezTo>
                    <a:pt x="205815" y="113385"/>
                    <a:pt x="200162" y="127031"/>
                    <a:pt x="190101" y="137093"/>
                  </a:cubicBezTo>
                  <a:cubicBezTo>
                    <a:pt x="180039" y="147154"/>
                    <a:pt x="166393" y="152807"/>
                    <a:pt x="152164" y="152807"/>
                  </a:cubicBezTo>
                  <a:lnTo>
                    <a:pt x="53651" y="152807"/>
                  </a:lnTo>
                  <a:cubicBezTo>
                    <a:pt x="24020" y="152807"/>
                    <a:pt x="0" y="128786"/>
                    <a:pt x="0" y="99155"/>
                  </a:cubicBezTo>
                  <a:lnTo>
                    <a:pt x="0" y="53651"/>
                  </a:lnTo>
                  <a:cubicBezTo>
                    <a:pt x="0" y="39422"/>
                    <a:pt x="5653" y="25776"/>
                    <a:pt x="15714" y="15714"/>
                  </a:cubicBezTo>
                  <a:cubicBezTo>
                    <a:pt x="25776" y="5653"/>
                    <a:pt x="39422" y="0"/>
                    <a:pt x="536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05815" cy="200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8"/>
                </a:lnSpc>
                <a:spcBef>
                  <a:spcPct val="0"/>
                </a:spcBef>
              </a:pPr>
              <a:r>
                <a:rPr lang="en-US" b="true" sz="2234" spc="290">
                  <a:solidFill>
                    <a:srgbClr val="181B2E"/>
                  </a:solidFill>
                  <a:latin typeface="Saira Bold"/>
                  <a:ea typeface="Saira Bold"/>
                  <a:cs typeface="Saira Bold"/>
                  <a:sym typeface="Saira Bold"/>
                </a:rPr>
                <a:t>02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454909" y="5746011"/>
            <a:ext cx="1010106" cy="749950"/>
            <a:chOff x="0" y="0"/>
            <a:chExt cx="205815" cy="1528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5815" cy="152807"/>
            </a:xfrm>
            <a:custGeom>
              <a:avLst/>
              <a:gdLst/>
              <a:ahLst/>
              <a:cxnLst/>
              <a:rect r="r" b="b" t="t" l="l"/>
              <a:pathLst>
                <a:path h="152807" w="205815">
                  <a:moveTo>
                    <a:pt x="53651" y="0"/>
                  </a:moveTo>
                  <a:lnTo>
                    <a:pt x="152164" y="0"/>
                  </a:lnTo>
                  <a:cubicBezTo>
                    <a:pt x="166393" y="0"/>
                    <a:pt x="180039" y="5653"/>
                    <a:pt x="190101" y="15714"/>
                  </a:cubicBezTo>
                  <a:cubicBezTo>
                    <a:pt x="200162" y="25776"/>
                    <a:pt x="205815" y="39422"/>
                    <a:pt x="205815" y="53651"/>
                  </a:cubicBezTo>
                  <a:lnTo>
                    <a:pt x="205815" y="99155"/>
                  </a:lnTo>
                  <a:cubicBezTo>
                    <a:pt x="205815" y="113385"/>
                    <a:pt x="200162" y="127031"/>
                    <a:pt x="190101" y="137093"/>
                  </a:cubicBezTo>
                  <a:cubicBezTo>
                    <a:pt x="180039" y="147154"/>
                    <a:pt x="166393" y="152807"/>
                    <a:pt x="152164" y="152807"/>
                  </a:cubicBezTo>
                  <a:lnTo>
                    <a:pt x="53651" y="152807"/>
                  </a:lnTo>
                  <a:cubicBezTo>
                    <a:pt x="24020" y="152807"/>
                    <a:pt x="0" y="128786"/>
                    <a:pt x="0" y="99155"/>
                  </a:cubicBezTo>
                  <a:lnTo>
                    <a:pt x="0" y="53651"/>
                  </a:lnTo>
                  <a:cubicBezTo>
                    <a:pt x="0" y="39422"/>
                    <a:pt x="5653" y="25776"/>
                    <a:pt x="15714" y="15714"/>
                  </a:cubicBezTo>
                  <a:cubicBezTo>
                    <a:pt x="25776" y="5653"/>
                    <a:pt x="39422" y="0"/>
                    <a:pt x="536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205815" cy="1432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525"/>
                </a:lnSpc>
              </a:pPr>
              <a:r>
                <a:rPr lang="en-US" b="true" sz="2234" spc="290">
                  <a:solidFill>
                    <a:srgbClr val="181B2E"/>
                  </a:solidFill>
                  <a:latin typeface="Saira Bold"/>
                  <a:ea typeface="Saira Bold"/>
                  <a:cs typeface="Saira Bold"/>
                  <a:sym typeface="Saira Bold"/>
                </a:rPr>
                <a:t>05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454909" y="7535747"/>
            <a:ext cx="1010106" cy="749950"/>
            <a:chOff x="0" y="0"/>
            <a:chExt cx="205815" cy="1528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5815" cy="152807"/>
            </a:xfrm>
            <a:custGeom>
              <a:avLst/>
              <a:gdLst/>
              <a:ahLst/>
              <a:cxnLst/>
              <a:rect r="r" b="b" t="t" l="l"/>
              <a:pathLst>
                <a:path h="152807" w="205815">
                  <a:moveTo>
                    <a:pt x="53651" y="0"/>
                  </a:moveTo>
                  <a:lnTo>
                    <a:pt x="152164" y="0"/>
                  </a:lnTo>
                  <a:cubicBezTo>
                    <a:pt x="166393" y="0"/>
                    <a:pt x="180039" y="5653"/>
                    <a:pt x="190101" y="15714"/>
                  </a:cubicBezTo>
                  <a:cubicBezTo>
                    <a:pt x="200162" y="25776"/>
                    <a:pt x="205815" y="39422"/>
                    <a:pt x="205815" y="53651"/>
                  </a:cubicBezTo>
                  <a:lnTo>
                    <a:pt x="205815" y="99155"/>
                  </a:lnTo>
                  <a:cubicBezTo>
                    <a:pt x="205815" y="113385"/>
                    <a:pt x="200162" y="127031"/>
                    <a:pt x="190101" y="137093"/>
                  </a:cubicBezTo>
                  <a:cubicBezTo>
                    <a:pt x="180039" y="147154"/>
                    <a:pt x="166393" y="152807"/>
                    <a:pt x="152164" y="152807"/>
                  </a:cubicBezTo>
                  <a:lnTo>
                    <a:pt x="53651" y="152807"/>
                  </a:lnTo>
                  <a:cubicBezTo>
                    <a:pt x="24020" y="152807"/>
                    <a:pt x="0" y="128786"/>
                    <a:pt x="0" y="99155"/>
                  </a:cubicBezTo>
                  <a:lnTo>
                    <a:pt x="0" y="53651"/>
                  </a:lnTo>
                  <a:cubicBezTo>
                    <a:pt x="0" y="39422"/>
                    <a:pt x="5653" y="25776"/>
                    <a:pt x="15714" y="15714"/>
                  </a:cubicBezTo>
                  <a:cubicBezTo>
                    <a:pt x="25776" y="5653"/>
                    <a:pt x="39422" y="0"/>
                    <a:pt x="536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05815" cy="1432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525"/>
                </a:lnSpc>
              </a:pPr>
              <a:r>
                <a:rPr lang="en-US" b="true" sz="2234" spc="290">
                  <a:solidFill>
                    <a:srgbClr val="181B2E"/>
                  </a:solidFill>
                  <a:latin typeface="Saira Bold"/>
                  <a:ea typeface="Saira Bold"/>
                  <a:cs typeface="Saira Bold"/>
                  <a:sym typeface="Saira Bold"/>
                </a:rPr>
                <a:t>08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859224" y="3956274"/>
            <a:ext cx="1010106" cy="749950"/>
            <a:chOff x="0" y="0"/>
            <a:chExt cx="205815" cy="1528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5815" cy="152807"/>
            </a:xfrm>
            <a:custGeom>
              <a:avLst/>
              <a:gdLst/>
              <a:ahLst/>
              <a:cxnLst/>
              <a:rect r="r" b="b" t="t" l="l"/>
              <a:pathLst>
                <a:path h="152807" w="205815">
                  <a:moveTo>
                    <a:pt x="53651" y="0"/>
                  </a:moveTo>
                  <a:lnTo>
                    <a:pt x="152164" y="0"/>
                  </a:lnTo>
                  <a:cubicBezTo>
                    <a:pt x="166393" y="0"/>
                    <a:pt x="180039" y="5653"/>
                    <a:pt x="190101" y="15714"/>
                  </a:cubicBezTo>
                  <a:cubicBezTo>
                    <a:pt x="200162" y="25776"/>
                    <a:pt x="205815" y="39422"/>
                    <a:pt x="205815" y="53651"/>
                  </a:cubicBezTo>
                  <a:lnTo>
                    <a:pt x="205815" y="99155"/>
                  </a:lnTo>
                  <a:cubicBezTo>
                    <a:pt x="205815" y="113385"/>
                    <a:pt x="200162" y="127031"/>
                    <a:pt x="190101" y="137093"/>
                  </a:cubicBezTo>
                  <a:cubicBezTo>
                    <a:pt x="180039" y="147154"/>
                    <a:pt x="166393" y="152807"/>
                    <a:pt x="152164" y="152807"/>
                  </a:cubicBezTo>
                  <a:lnTo>
                    <a:pt x="53651" y="152807"/>
                  </a:lnTo>
                  <a:cubicBezTo>
                    <a:pt x="24020" y="152807"/>
                    <a:pt x="0" y="128786"/>
                    <a:pt x="0" y="99155"/>
                  </a:cubicBezTo>
                  <a:lnTo>
                    <a:pt x="0" y="53651"/>
                  </a:lnTo>
                  <a:cubicBezTo>
                    <a:pt x="0" y="39422"/>
                    <a:pt x="5653" y="25776"/>
                    <a:pt x="15714" y="15714"/>
                  </a:cubicBezTo>
                  <a:cubicBezTo>
                    <a:pt x="25776" y="5653"/>
                    <a:pt x="39422" y="0"/>
                    <a:pt x="536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05815" cy="200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8"/>
                </a:lnSpc>
                <a:spcBef>
                  <a:spcPct val="0"/>
                </a:spcBef>
              </a:pPr>
              <a:r>
                <a:rPr lang="en-US" b="true" sz="2234" spc="290">
                  <a:solidFill>
                    <a:srgbClr val="181B2E"/>
                  </a:solidFill>
                  <a:latin typeface="Saira Bold"/>
                  <a:ea typeface="Saira Bold"/>
                  <a:cs typeface="Saira Bold"/>
                  <a:sym typeface="Saira Bold"/>
                </a:rPr>
                <a:t>03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859224" y="5746011"/>
            <a:ext cx="1010106" cy="749950"/>
            <a:chOff x="0" y="0"/>
            <a:chExt cx="205815" cy="15280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5815" cy="152807"/>
            </a:xfrm>
            <a:custGeom>
              <a:avLst/>
              <a:gdLst/>
              <a:ahLst/>
              <a:cxnLst/>
              <a:rect r="r" b="b" t="t" l="l"/>
              <a:pathLst>
                <a:path h="152807" w="205815">
                  <a:moveTo>
                    <a:pt x="53651" y="0"/>
                  </a:moveTo>
                  <a:lnTo>
                    <a:pt x="152164" y="0"/>
                  </a:lnTo>
                  <a:cubicBezTo>
                    <a:pt x="166393" y="0"/>
                    <a:pt x="180039" y="5653"/>
                    <a:pt x="190101" y="15714"/>
                  </a:cubicBezTo>
                  <a:cubicBezTo>
                    <a:pt x="200162" y="25776"/>
                    <a:pt x="205815" y="39422"/>
                    <a:pt x="205815" y="53651"/>
                  </a:cubicBezTo>
                  <a:lnTo>
                    <a:pt x="205815" y="99155"/>
                  </a:lnTo>
                  <a:cubicBezTo>
                    <a:pt x="205815" y="113385"/>
                    <a:pt x="200162" y="127031"/>
                    <a:pt x="190101" y="137093"/>
                  </a:cubicBezTo>
                  <a:cubicBezTo>
                    <a:pt x="180039" y="147154"/>
                    <a:pt x="166393" y="152807"/>
                    <a:pt x="152164" y="152807"/>
                  </a:cubicBezTo>
                  <a:lnTo>
                    <a:pt x="53651" y="152807"/>
                  </a:lnTo>
                  <a:cubicBezTo>
                    <a:pt x="24020" y="152807"/>
                    <a:pt x="0" y="128786"/>
                    <a:pt x="0" y="99155"/>
                  </a:cubicBezTo>
                  <a:lnTo>
                    <a:pt x="0" y="53651"/>
                  </a:lnTo>
                  <a:cubicBezTo>
                    <a:pt x="0" y="39422"/>
                    <a:pt x="5653" y="25776"/>
                    <a:pt x="15714" y="15714"/>
                  </a:cubicBezTo>
                  <a:cubicBezTo>
                    <a:pt x="25776" y="5653"/>
                    <a:pt x="39422" y="0"/>
                    <a:pt x="536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205815" cy="1432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525"/>
                </a:lnSpc>
              </a:pPr>
              <a:r>
                <a:rPr lang="en-US" b="true" sz="2234" spc="290">
                  <a:solidFill>
                    <a:srgbClr val="181B2E"/>
                  </a:solidFill>
                  <a:latin typeface="Saira Bold"/>
                  <a:ea typeface="Saira Bold"/>
                  <a:cs typeface="Saira Bold"/>
                  <a:sym typeface="Saira Bold"/>
                </a:rPr>
                <a:t>06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859224" y="7535747"/>
            <a:ext cx="1010106" cy="749950"/>
            <a:chOff x="0" y="0"/>
            <a:chExt cx="205815" cy="15280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5815" cy="152807"/>
            </a:xfrm>
            <a:custGeom>
              <a:avLst/>
              <a:gdLst/>
              <a:ahLst/>
              <a:cxnLst/>
              <a:rect r="r" b="b" t="t" l="l"/>
              <a:pathLst>
                <a:path h="152807" w="205815">
                  <a:moveTo>
                    <a:pt x="53651" y="0"/>
                  </a:moveTo>
                  <a:lnTo>
                    <a:pt x="152164" y="0"/>
                  </a:lnTo>
                  <a:cubicBezTo>
                    <a:pt x="166393" y="0"/>
                    <a:pt x="180039" y="5653"/>
                    <a:pt x="190101" y="15714"/>
                  </a:cubicBezTo>
                  <a:cubicBezTo>
                    <a:pt x="200162" y="25776"/>
                    <a:pt x="205815" y="39422"/>
                    <a:pt x="205815" y="53651"/>
                  </a:cubicBezTo>
                  <a:lnTo>
                    <a:pt x="205815" y="99155"/>
                  </a:lnTo>
                  <a:cubicBezTo>
                    <a:pt x="205815" y="113385"/>
                    <a:pt x="200162" y="127031"/>
                    <a:pt x="190101" y="137093"/>
                  </a:cubicBezTo>
                  <a:cubicBezTo>
                    <a:pt x="180039" y="147154"/>
                    <a:pt x="166393" y="152807"/>
                    <a:pt x="152164" y="152807"/>
                  </a:cubicBezTo>
                  <a:lnTo>
                    <a:pt x="53651" y="152807"/>
                  </a:lnTo>
                  <a:cubicBezTo>
                    <a:pt x="24020" y="152807"/>
                    <a:pt x="0" y="128786"/>
                    <a:pt x="0" y="99155"/>
                  </a:cubicBezTo>
                  <a:lnTo>
                    <a:pt x="0" y="53651"/>
                  </a:lnTo>
                  <a:cubicBezTo>
                    <a:pt x="0" y="39422"/>
                    <a:pt x="5653" y="25776"/>
                    <a:pt x="15714" y="15714"/>
                  </a:cubicBezTo>
                  <a:cubicBezTo>
                    <a:pt x="25776" y="5653"/>
                    <a:pt x="39422" y="0"/>
                    <a:pt x="536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205815" cy="1432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525"/>
                </a:lnSpc>
              </a:pPr>
              <a:r>
                <a:rPr lang="en-US" b="true" sz="2234" spc="290" strike="noStrike" u="none">
                  <a:solidFill>
                    <a:srgbClr val="181B2E"/>
                  </a:solidFill>
                  <a:latin typeface="Saira Bold"/>
                  <a:ea typeface="Saira Bold"/>
                  <a:cs typeface="Saira Bold"/>
                  <a:sym typeface="Saira Bold"/>
                </a:rPr>
                <a:t>09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9144000" y="1271010"/>
            <a:ext cx="8881548" cy="7749852"/>
          </a:xfrm>
          <a:custGeom>
            <a:avLst/>
            <a:gdLst/>
            <a:ahLst/>
            <a:cxnLst/>
            <a:rect r="r" b="b" t="t" l="l"/>
            <a:pathLst>
              <a:path h="7749852" w="8881548">
                <a:moveTo>
                  <a:pt x="0" y="0"/>
                </a:moveTo>
                <a:lnTo>
                  <a:pt x="8881548" y="0"/>
                </a:lnTo>
                <a:lnTo>
                  <a:pt x="8881548" y="7749851"/>
                </a:lnTo>
                <a:lnTo>
                  <a:pt x="0" y="77498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500" t="0" r="-3350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904201" y="1465331"/>
            <a:ext cx="6298478" cy="204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241"/>
              </a:lnSpc>
              <a:spcBef>
                <a:spcPct val="0"/>
              </a:spcBef>
            </a:pPr>
            <a:r>
              <a:rPr lang="en-US" sz="8743">
                <a:solidFill>
                  <a:srgbClr val="8FE3FD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C</a:t>
            </a:r>
            <a:r>
              <a:rPr lang="en-US" sz="8743" strike="noStrike" u="none">
                <a:solidFill>
                  <a:srgbClr val="8FE3FD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ontenido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12044" y="550587"/>
            <a:ext cx="5012675" cy="1629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42"/>
              </a:lnSpc>
              <a:spcBef>
                <a:spcPct val="0"/>
              </a:spcBef>
            </a:pPr>
            <a:r>
              <a:rPr lang="en-US" sz="6958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Tabla de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50983" y="4851512"/>
            <a:ext cx="1909595" cy="29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13"/>
              </a:lnSpc>
            </a:pPr>
            <a:r>
              <a:rPr lang="en-US" sz="2047" spc="65">
                <a:solidFill>
                  <a:srgbClr val="FFFFFF"/>
                </a:solidFill>
                <a:latin typeface="Saira"/>
                <a:ea typeface="Saira"/>
                <a:cs typeface="Saira"/>
                <a:sym typeface="Saira"/>
              </a:rPr>
              <a:t>Portada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50983" y="6641248"/>
            <a:ext cx="1909595" cy="29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13"/>
              </a:lnSpc>
            </a:pPr>
            <a:r>
              <a:rPr lang="en-US" sz="2047" spc="65">
                <a:solidFill>
                  <a:srgbClr val="FFFFFF"/>
                </a:solidFill>
                <a:latin typeface="Saira"/>
                <a:ea typeface="Saira"/>
                <a:cs typeface="Saira"/>
                <a:sym typeface="Saira"/>
              </a:rPr>
              <a:t>Mapa Mental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50983" y="8430985"/>
            <a:ext cx="1909595" cy="29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13"/>
              </a:lnSpc>
            </a:pPr>
            <a:r>
              <a:rPr lang="en-US" sz="2047" spc="65">
                <a:solidFill>
                  <a:srgbClr val="FFFFFF"/>
                </a:solidFill>
                <a:latin typeface="Saira"/>
                <a:ea typeface="Saira"/>
                <a:cs typeface="Saira"/>
                <a:sym typeface="Saira"/>
              </a:rPr>
              <a:t>Imagenes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052564" y="4851512"/>
            <a:ext cx="1909595" cy="29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13"/>
              </a:lnSpc>
            </a:pPr>
            <a:r>
              <a:rPr lang="en-US" sz="2047" spc="65">
                <a:solidFill>
                  <a:srgbClr val="FFFFFF"/>
                </a:solidFill>
                <a:latin typeface="Saira"/>
                <a:ea typeface="Saira"/>
                <a:cs typeface="Saira"/>
                <a:sym typeface="Saira"/>
              </a:rPr>
              <a:t>Indice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052564" y="6641248"/>
            <a:ext cx="1909595" cy="29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13"/>
              </a:lnSpc>
            </a:pPr>
            <a:r>
              <a:rPr lang="en-US" sz="2047" spc="65">
                <a:solidFill>
                  <a:srgbClr val="FFFFFF"/>
                </a:solidFill>
                <a:latin typeface="Saira"/>
                <a:ea typeface="Saira"/>
                <a:cs typeface="Saira"/>
                <a:sym typeface="Saira"/>
              </a:rPr>
              <a:t>Audio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052564" y="8430985"/>
            <a:ext cx="1909595" cy="29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13"/>
              </a:lnSpc>
            </a:pPr>
            <a:r>
              <a:rPr lang="en-US" sz="2047" spc="65">
                <a:solidFill>
                  <a:srgbClr val="FFFFFF"/>
                </a:solidFill>
                <a:latin typeface="Saira"/>
                <a:ea typeface="Saira"/>
                <a:cs typeface="Saira"/>
                <a:sym typeface="Saira"/>
              </a:rPr>
              <a:t>JS Y CSS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456879" y="4851512"/>
            <a:ext cx="1909595" cy="29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13"/>
              </a:lnSpc>
            </a:pPr>
            <a:r>
              <a:rPr lang="en-US" sz="2047" spc="65">
                <a:solidFill>
                  <a:srgbClr val="FFFFFF"/>
                </a:solidFill>
                <a:latin typeface="Saira"/>
                <a:ea typeface="Saira"/>
                <a:cs typeface="Saira"/>
                <a:sym typeface="Saira"/>
              </a:rPr>
              <a:t>Objetivo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456879" y="6641248"/>
            <a:ext cx="1909595" cy="29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13"/>
              </a:lnSpc>
            </a:pPr>
            <a:r>
              <a:rPr lang="en-US" sz="2047" spc="65">
                <a:solidFill>
                  <a:srgbClr val="FFFFFF"/>
                </a:solidFill>
                <a:latin typeface="Saira"/>
                <a:ea typeface="Saira"/>
                <a:cs typeface="Saira"/>
                <a:sym typeface="Saira"/>
              </a:rPr>
              <a:t>Video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456879" y="8430985"/>
            <a:ext cx="1909595" cy="29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13"/>
              </a:lnSpc>
            </a:pPr>
            <a:r>
              <a:rPr lang="en-US" sz="2047" spc="65">
                <a:solidFill>
                  <a:srgbClr val="FFFFFF"/>
                </a:solidFill>
                <a:latin typeface="Saira"/>
                <a:ea typeface="Saira"/>
                <a:cs typeface="Saira"/>
                <a:sym typeface="Saira"/>
              </a:rPr>
              <a:t>Concluisones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75585" y="0"/>
            <a:ext cx="6312415" cy="10287000"/>
          </a:xfrm>
          <a:custGeom>
            <a:avLst/>
            <a:gdLst/>
            <a:ahLst/>
            <a:cxnLst/>
            <a:rect r="r" b="b" t="t" l="l"/>
            <a:pathLst>
              <a:path h="10287000" w="6312415">
                <a:moveTo>
                  <a:pt x="0" y="0"/>
                </a:moveTo>
                <a:lnTo>
                  <a:pt x="6312415" y="0"/>
                </a:lnTo>
                <a:lnTo>
                  <a:pt x="631241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40" t="0" r="-25742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36908" y="1130556"/>
            <a:ext cx="7974909" cy="204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241"/>
              </a:lnSpc>
              <a:spcBef>
                <a:spcPct val="0"/>
              </a:spcBef>
            </a:pPr>
            <a:r>
              <a:rPr lang="en-US" sz="8743">
                <a:solidFill>
                  <a:srgbClr val="8FE3FD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OBJETIVOS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6908" y="3668429"/>
            <a:ext cx="7669124" cy="341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7679" indent="-273839" lvl="1">
              <a:lnSpc>
                <a:spcPts val="3424"/>
              </a:lnSpc>
              <a:buFont typeface="Arial"/>
              <a:buChar char="•"/>
            </a:pPr>
            <a:r>
              <a:rPr lang="en-US" sz="2536" spc="81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Uso de contenido multimedia en HTML5</a:t>
            </a:r>
          </a:p>
          <a:p>
            <a:pPr algn="just" marL="547679" indent="-273839" lvl="1">
              <a:lnSpc>
                <a:spcPts val="3424"/>
              </a:lnSpc>
              <a:buFont typeface="Arial"/>
              <a:buChar char="•"/>
            </a:pPr>
            <a:r>
              <a:rPr lang="en-US" sz="2536" spc="81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Integración de audio, vídeo e imágenes</a:t>
            </a:r>
          </a:p>
          <a:p>
            <a:pPr algn="just" marL="547679" indent="-273839" lvl="1">
              <a:lnSpc>
                <a:spcPts val="3424"/>
              </a:lnSpc>
              <a:buFont typeface="Arial"/>
              <a:buChar char="•"/>
            </a:pPr>
            <a:r>
              <a:rPr lang="en-US" sz="2536" spc="81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Creación de controles personalizados</a:t>
            </a:r>
          </a:p>
          <a:p>
            <a:pPr algn="just" marL="547679" indent="-273839" lvl="1">
              <a:lnSpc>
                <a:spcPts val="3424"/>
              </a:lnSpc>
              <a:buFont typeface="Arial"/>
              <a:buChar char="•"/>
            </a:pPr>
            <a:r>
              <a:rPr lang="en-US" sz="2536" spc="81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Interactividad con JavaScript</a:t>
            </a:r>
          </a:p>
          <a:p>
            <a:pPr algn="just" marL="547679" indent="-273839" lvl="1">
              <a:lnSpc>
                <a:spcPts val="3424"/>
              </a:lnSpc>
              <a:buFont typeface="Arial"/>
              <a:buChar char="•"/>
            </a:pPr>
            <a:r>
              <a:rPr lang="en-US" sz="2536" spc="81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Diseño moderno con CSS3</a:t>
            </a:r>
          </a:p>
          <a:p>
            <a:pPr algn="just">
              <a:lnSpc>
                <a:spcPts val="3424"/>
              </a:lnSpc>
            </a:pPr>
          </a:p>
          <a:p>
            <a:pPr algn="just">
              <a:lnSpc>
                <a:spcPts val="3424"/>
              </a:lnSpc>
            </a:pPr>
          </a:p>
          <a:p>
            <a:pPr algn="just" marL="0" indent="0" lvl="0">
              <a:lnSpc>
                <a:spcPts val="342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32154" y="4041590"/>
            <a:ext cx="4223693" cy="422369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2FEFE">
                    <a:alpha val="100000"/>
                  </a:srgbClr>
                </a:gs>
                <a:gs pos="100000">
                  <a:srgbClr val="3894BB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57368" y="2291514"/>
            <a:ext cx="2791204" cy="584234"/>
            <a:chOff x="0" y="0"/>
            <a:chExt cx="537134" cy="1124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7134" cy="112429"/>
            </a:xfrm>
            <a:custGeom>
              <a:avLst/>
              <a:gdLst/>
              <a:ahLst/>
              <a:cxnLst/>
              <a:rect r="r" b="b" t="t" l="l"/>
              <a:pathLst>
                <a:path h="112429" w="537134">
                  <a:moveTo>
                    <a:pt x="56215" y="0"/>
                  </a:moveTo>
                  <a:lnTo>
                    <a:pt x="480920" y="0"/>
                  </a:lnTo>
                  <a:cubicBezTo>
                    <a:pt x="495829" y="0"/>
                    <a:pt x="510127" y="5923"/>
                    <a:pt x="520670" y="16465"/>
                  </a:cubicBezTo>
                  <a:cubicBezTo>
                    <a:pt x="531212" y="27007"/>
                    <a:pt x="537134" y="41305"/>
                    <a:pt x="537134" y="56215"/>
                  </a:cubicBezTo>
                  <a:lnTo>
                    <a:pt x="537134" y="56215"/>
                  </a:lnTo>
                  <a:cubicBezTo>
                    <a:pt x="537134" y="87261"/>
                    <a:pt x="511966" y="112429"/>
                    <a:pt x="480920" y="112429"/>
                  </a:cubicBezTo>
                  <a:lnTo>
                    <a:pt x="56215" y="112429"/>
                  </a:lnTo>
                  <a:cubicBezTo>
                    <a:pt x="25168" y="112429"/>
                    <a:pt x="0" y="87261"/>
                    <a:pt x="0" y="56215"/>
                  </a:cubicBezTo>
                  <a:lnTo>
                    <a:pt x="0" y="56215"/>
                  </a:lnTo>
                  <a:cubicBezTo>
                    <a:pt x="0" y="25168"/>
                    <a:pt x="25168" y="0"/>
                    <a:pt x="562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2FEFE">
                    <a:alpha val="100000"/>
                  </a:srgbClr>
                </a:gs>
                <a:gs pos="100000">
                  <a:srgbClr val="3894BB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37134" cy="160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b="true" sz="2249">
                  <a:solidFill>
                    <a:srgbClr val="1C29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Audios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8932" y="4851383"/>
            <a:ext cx="2791204" cy="584234"/>
            <a:chOff x="0" y="0"/>
            <a:chExt cx="537134" cy="1124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7134" cy="112429"/>
            </a:xfrm>
            <a:custGeom>
              <a:avLst/>
              <a:gdLst/>
              <a:ahLst/>
              <a:cxnLst/>
              <a:rect r="r" b="b" t="t" l="l"/>
              <a:pathLst>
                <a:path h="112429" w="537134">
                  <a:moveTo>
                    <a:pt x="56215" y="0"/>
                  </a:moveTo>
                  <a:lnTo>
                    <a:pt x="480920" y="0"/>
                  </a:lnTo>
                  <a:cubicBezTo>
                    <a:pt x="495829" y="0"/>
                    <a:pt x="510127" y="5923"/>
                    <a:pt x="520670" y="16465"/>
                  </a:cubicBezTo>
                  <a:cubicBezTo>
                    <a:pt x="531212" y="27007"/>
                    <a:pt x="537134" y="41305"/>
                    <a:pt x="537134" y="56215"/>
                  </a:cubicBezTo>
                  <a:lnTo>
                    <a:pt x="537134" y="56215"/>
                  </a:lnTo>
                  <a:cubicBezTo>
                    <a:pt x="537134" y="87261"/>
                    <a:pt x="511966" y="112429"/>
                    <a:pt x="480920" y="112429"/>
                  </a:cubicBezTo>
                  <a:lnTo>
                    <a:pt x="56215" y="112429"/>
                  </a:lnTo>
                  <a:cubicBezTo>
                    <a:pt x="25168" y="112429"/>
                    <a:pt x="0" y="87261"/>
                    <a:pt x="0" y="56215"/>
                  </a:cubicBezTo>
                  <a:lnTo>
                    <a:pt x="0" y="56215"/>
                  </a:lnTo>
                  <a:cubicBezTo>
                    <a:pt x="0" y="25168"/>
                    <a:pt x="25168" y="0"/>
                    <a:pt x="562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2FEFE">
                    <a:alpha val="100000"/>
                  </a:srgbClr>
                </a:gs>
                <a:gs pos="100000">
                  <a:srgbClr val="3894BB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37134" cy="160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b="true" sz="2249">
                  <a:solidFill>
                    <a:srgbClr val="1C29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Imágenes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069250" y="7973165"/>
            <a:ext cx="2791204" cy="584234"/>
            <a:chOff x="0" y="0"/>
            <a:chExt cx="537134" cy="1124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7134" cy="112429"/>
            </a:xfrm>
            <a:custGeom>
              <a:avLst/>
              <a:gdLst/>
              <a:ahLst/>
              <a:cxnLst/>
              <a:rect r="r" b="b" t="t" l="l"/>
              <a:pathLst>
                <a:path h="112429" w="537134">
                  <a:moveTo>
                    <a:pt x="56215" y="0"/>
                  </a:moveTo>
                  <a:lnTo>
                    <a:pt x="480920" y="0"/>
                  </a:lnTo>
                  <a:cubicBezTo>
                    <a:pt x="495829" y="0"/>
                    <a:pt x="510127" y="5923"/>
                    <a:pt x="520670" y="16465"/>
                  </a:cubicBezTo>
                  <a:cubicBezTo>
                    <a:pt x="531212" y="27007"/>
                    <a:pt x="537134" y="41305"/>
                    <a:pt x="537134" y="56215"/>
                  </a:cubicBezTo>
                  <a:lnTo>
                    <a:pt x="537134" y="56215"/>
                  </a:lnTo>
                  <a:cubicBezTo>
                    <a:pt x="537134" y="87261"/>
                    <a:pt x="511966" y="112429"/>
                    <a:pt x="480920" y="112429"/>
                  </a:cubicBezTo>
                  <a:lnTo>
                    <a:pt x="56215" y="112429"/>
                  </a:lnTo>
                  <a:cubicBezTo>
                    <a:pt x="25168" y="112429"/>
                    <a:pt x="0" y="87261"/>
                    <a:pt x="0" y="56215"/>
                  </a:cubicBezTo>
                  <a:lnTo>
                    <a:pt x="0" y="56215"/>
                  </a:lnTo>
                  <a:cubicBezTo>
                    <a:pt x="0" y="25168"/>
                    <a:pt x="25168" y="0"/>
                    <a:pt x="562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2FEFE">
                    <a:alpha val="100000"/>
                  </a:srgbClr>
                </a:gs>
                <a:gs pos="100000">
                  <a:srgbClr val="3894BB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37134" cy="160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b="true" sz="2249">
                  <a:solidFill>
                    <a:srgbClr val="1C29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Vídeo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317369" y="5507133"/>
            <a:ext cx="3653263" cy="1016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52"/>
              </a:lnSpc>
            </a:pPr>
            <a:r>
              <a:rPr lang="en-US" b="true" sz="4700">
                <a:solidFill>
                  <a:srgbClr val="0A1944"/>
                </a:soli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Multimedia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56739" y="606101"/>
            <a:ext cx="7883216" cy="1685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03"/>
              </a:lnSpc>
              <a:spcBef>
                <a:spcPct val="0"/>
              </a:spcBef>
            </a:pPr>
            <a:r>
              <a:rPr lang="en-US" sz="7145" strike="noStrike" u="none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Mapa Mental</a:t>
            </a:r>
          </a:p>
        </p:txBody>
      </p:sp>
      <p:sp>
        <p:nvSpPr>
          <p:cNvPr name="AutoShape 16" id="16"/>
          <p:cNvSpPr/>
          <p:nvPr/>
        </p:nvSpPr>
        <p:spPr>
          <a:xfrm flipH="true" flipV="true">
            <a:off x="4648572" y="2583631"/>
            <a:ext cx="2383581" cy="3569805"/>
          </a:xfrm>
          <a:prstGeom prst="line">
            <a:avLst/>
          </a:prstGeom>
          <a:ln cap="rnd" w="38100">
            <a:solidFill>
              <a:srgbClr val="41B8D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 flipH="true" flipV="true">
            <a:off x="4480136" y="5143500"/>
            <a:ext cx="2552018" cy="1009936"/>
          </a:xfrm>
          <a:prstGeom prst="line">
            <a:avLst/>
          </a:prstGeom>
          <a:ln cap="rnd" w="38100">
            <a:solidFill>
              <a:srgbClr val="41B8D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 flipH="true">
            <a:off x="4860454" y="6153436"/>
            <a:ext cx="2171700" cy="2111846"/>
          </a:xfrm>
          <a:prstGeom prst="line">
            <a:avLst/>
          </a:prstGeom>
          <a:ln cap="rnd" w="38100">
            <a:solidFill>
              <a:srgbClr val="41B8D5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9" id="19"/>
          <p:cNvGrpSpPr/>
          <p:nvPr/>
        </p:nvGrpSpPr>
        <p:grpSpPr>
          <a:xfrm rot="0">
            <a:off x="12715968" y="2291514"/>
            <a:ext cx="2791204" cy="584234"/>
            <a:chOff x="0" y="0"/>
            <a:chExt cx="537134" cy="1124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7134" cy="112429"/>
            </a:xfrm>
            <a:custGeom>
              <a:avLst/>
              <a:gdLst/>
              <a:ahLst/>
              <a:cxnLst/>
              <a:rect r="r" b="b" t="t" l="l"/>
              <a:pathLst>
                <a:path h="112429" w="537134">
                  <a:moveTo>
                    <a:pt x="56215" y="0"/>
                  </a:moveTo>
                  <a:lnTo>
                    <a:pt x="480920" y="0"/>
                  </a:lnTo>
                  <a:cubicBezTo>
                    <a:pt x="495829" y="0"/>
                    <a:pt x="510127" y="5923"/>
                    <a:pt x="520670" y="16465"/>
                  </a:cubicBezTo>
                  <a:cubicBezTo>
                    <a:pt x="531212" y="27007"/>
                    <a:pt x="537134" y="41305"/>
                    <a:pt x="537134" y="56215"/>
                  </a:cubicBezTo>
                  <a:lnTo>
                    <a:pt x="537134" y="56215"/>
                  </a:lnTo>
                  <a:cubicBezTo>
                    <a:pt x="537134" y="87261"/>
                    <a:pt x="511966" y="112429"/>
                    <a:pt x="480920" y="112429"/>
                  </a:cubicBezTo>
                  <a:lnTo>
                    <a:pt x="56215" y="112429"/>
                  </a:lnTo>
                  <a:cubicBezTo>
                    <a:pt x="25168" y="112429"/>
                    <a:pt x="0" y="87261"/>
                    <a:pt x="0" y="56215"/>
                  </a:cubicBezTo>
                  <a:lnTo>
                    <a:pt x="0" y="56215"/>
                  </a:lnTo>
                  <a:cubicBezTo>
                    <a:pt x="0" y="25168"/>
                    <a:pt x="25168" y="0"/>
                    <a:pt x="562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2FEFE">
                    <a:alpha val="100000"/>
                  </a:srgbClr>
                </a:gs>
                <a:gs pos="100000">
                  <a:srgbClr val="3894BB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537134" cy="160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b="true" sz="2249">
                  <a:solidFill>
                    <a:srgbClr val="1C29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139956" y="7681048"/>
            <a:ext cx="2791204" cy="584234"/>
            <a:chOff x="0" y="0"/>
            <a:chExt cx="537134" cy="1124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7134" cy="112429"/>
            </a:xfrm>
            <a:custGeom>
              <a:avLst/>
              <a:gdLst/>
              <a:ahLst/>
              <a:cxnLst/>
              <a:rect r="r" b="b" t="t" l="l"/>
              <a:pathLst>
                <a:path h="112429" w="537134">
                  <a:moveTo>
                    <a:pt x="56215" y="0"/>
                  </a:moveTo>
                  <a:lnTo>
                    <a:pt x="480920" y="0"/>
                  </a:lnTo>
                  <a:cubicBezTo>
                    <a:pt x="495829" y="0"/>
                    <a:pt x="510127" y="5923"/>
                    <a:pt x="520670" y="16465"/>
                  </a:cubicBezTo>
                  <a:cubicBezTo>
                    <a:pt x="531212" y="27007"/>
                    <a:pt x="537134" y="41305"/>
                    <a:pt x="537134" y="56215"/>
                  </a:cubicBezTo>
                  <a:lnTo>
                    <a:pt x="537134" y="56215"/>
                  </a:lnTo>
                  <a:cubicBezTo>
                    <a:pt x="537134" y="87261"/>
                    <a:pt x="511966" y="112429"/>
                    <a:pt x="480920" y="112429"/>
                  </a:cubicBezTo>
                  <a:lnTo>
                    <a:pt x="56215" y="112429"/>
                  </a:lnTo>
                  <a:cubicBezTo>
                    <a:pt x="25168" y="112429"/>
                    <a:pt x="0" y="87261"/>
                    <a:pt x="0" y="56215"/>
                  </a:cubicBezTo>
                  <a:lnTo>
                    <a:pt x="0" y="56215"/>
                  </a:lnTo>
                  <a:cubicBezTo>
                    <a:pt x="0" y="25168"/>
                    <a:pt x="25168" y="0"/>
                    <a:pt x="562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2FEFE">
                    <a:alpha val="100000"/>
                  </a:srgbClr>
                </a:gs>
                <a:gs pos="100000">
                  <a:srgbClr val="3894BB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537134" cy="160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b="true" sz="2249">
                  <a:solidFill>
                    <a:srgbClr val="1C29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CSS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flipV="true">
            <a:off x="11255846" y="2583631"/>
            <a:ext cx="1460122" cy="3569805"/>
          </a:xfrm>
          <a:prstGeom prst="line">
            <a:avLst/>
          </a:prstGeom>
          <a:ln cap="rnd" w="38100">
            <a:solidFill>
              <a:srgbClr val="41B8D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6" id="26"/>
          <p:cNvSpPr/>
          <p:nvPr/>
        </p:nvSpPr>
        <p:spPr>
          <a:xfrm>
            <a:off x="11255846" y="6153436"/>
            <a:ext cx="1884110" cy="1819729"/>
          </a:xfrm>
          <a:prstGeom prst="line">
            <a:avLst/>
          </a:prstGeom>
          <a:ln cap="rnd" w="38100">
            <a:solidFill>
              <a:srgbClr val="41B8D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7" id="27"/>
          <p:cNvSpPr txBox="true"/>
          <p:nvPr/>
        </p:nvSpPr>
        <p:spPr>
          <a:xfrm rot="0">
            <a:off x="1308668" y="8614550"/>
            <a:ext cx="6342936" cy="771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  <a:spcBef>
                <a:spcPct val="0"/>
              </a:spcBef>
            </a:pPr>
            <a:r>
              <a:rPr lang="en-US" b="true" sz="224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Muestra contenido audiovisual con funciones </a:t>
            </a:r>
          </a:p>
          <a:p>
            <a:pPr algn="ctr">
              <a:lnSpc>
                <a:spcPts val="3149"/>
              </a:lnSpc>
              <a:spcBef>
                <a:spcPct val="0"/>
              </a:spcBef>
            </a:pPr>
            <a:r>
              <a:rPr lang="en-US" b="true" sz="224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avanzadas como pantalla completa o PiP.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20782" y="5904284"/>
            <a:ext cx="5127504" cy="1162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  <a:spcBef>
                <a:spcPct val="0"/>
              </a:spcBef>
            </a:pPr>
            <a:r>
              <a:rPr lang="en-US" b="true" sz="224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</a:t>
            </a:r>
            <a:r>
              <a:rPr lang="en-US" b="true" sz="224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ermiten mostrar información visual y pueden modificarse con CSS y JavaScript.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20782" y="2917794"/>
            <a:ext cx="5127504" cy="1162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  <a:spcBef>
                <a:spcPct val="0"/>
              </a:spcBef>
            </a:pPr>
            <a:r>
              <a:rPr lang="en-US" b="true" sz="224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Reprod</a:t>
            </a:r>
            <a:r>
              <a:rPr lang="en-US" b="true" sz="224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uce sonidos o música y admite controles personalizados como velocidad o loop.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255846" y="8419287"/>
            <a:ext cx="6818192" cy="771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  <a:spcBef>
                <a:spcPct val="0"/>
              </a:spcBef>
            </a:pPr>
            <a:r>
              <a:rPr lang="en-US" b="true" sz="224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El CSS d</a:t>
            </a:r>
            <a:r>
              <a:rPr lang="en-US" b="true" sz="224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efine apariencia visual de la página, añade efectos y estilos que hacen interfaz clara.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636971" y="3098460"/>
            <a:ext cx="5127504" cy="155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  <a:spcBef>
                <a:spcPct val="0"/>
              </a:spcBef>
            </a:pPr>
            <a:r>
              <a:rPr lang="en-US" b="true" sz="224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El JavaS</a:t>
            </a:r>
            <a:r>
              <a:rPr lang="en-US" b="true" sz="224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cript controla la interactividad, permitiendo reproducir, pausar y modificar elementos multimedia.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98137" y="1300503"/>
            <a:ext cx="8299870" cy="1910425"/>
            <a:chOff x="0" y="0"/>
            <a:chExt cx="2495026" cy="5742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5026" cy="574293"/>
            </a:xfrm>
            <a:custGeom>
              <a:avLst/>
              <a:gdLst/>
              <a:ahLst/>
              <a:cxnLst/>
              <a:rect r="r" b="b" t="t" l="l"/>
              <a:pathLst>
                <a:path h="574293" w="2495026">
                  <a:moveTo>
                    <a:pt x="0" y="0"/>
                  </a:moveTo>
                  <a:lnTo>
                    <a:pt x="2495026" y="0"/>
                  </a:lnTo>
                  <a:lnTo>
                    <a:pt x="2495026" y="574293"/>
                  </a:lnTo>
                  <a:lnTo>
                    <a:pt x="0" y="574293"/>
                  </a:lnTo>
                  <a:close/>
                </a:path>
              </a:pathLst>
            </a:custGeom>
            <a:gradFill rotWithShape="true">
              <a:gsLst>
                <a:gs pos="0">
                  <a:srgbClr val="000102">
                    <a:alpha val="63000"/>
                  </a:srgbClr>
                </a:gs>
                <a:gs pos="100000">
                  <a:srgbClr val="000000">
                    <a:alpha val="590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92FEFE">
                      <a:alpha val="100000"/>
                    </a:srgbClr>
                  </a:gs>
                  <a:gs pos="100000">
                    <a:srgbClr val="3894BB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95026" cy="621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398137" y="3357298"/>
            <a:ext cx="8299870" cy="1910425"/>
            <a:chOff x="0" y="0"/>
            <a:chExt cx="2495026" cy="5742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95026" cy="574293"/>
            </a:xfrm>
            <a:custGeom>
              <a:avLst/>
              <a:gdLst/>
              <a:ahLst/>
              <a:cxnLst/>
              <a:rect r="r" b="b" t="t" l="l"/>
              <a:pathLst>
                <a:path h="574293" w="2495026">
                  <a:moveTo>
                    <a:pt x="0" y="0"/>
                  </a:moveTo>
                  <a:lnTo>
                    <a:pt x="2495026" y="0"/>
                  </a:lnTo>
                  <a:lnTo>
                    <a:pt x="2495026" y="574293"/>
                  </a:lnTo>
                  <a:lnTo>
                    <a:pt x="0" y="574293"/>
                  </a:lnTo>
                  <a:close/>
                </a:path>
              </a:pathLst>
            </a:custGeom>
            <a:gradFill rotWithShape="true">
              <a:gsLst>
                <a:gs pos="0">
                  <a:srgbClr val="000102">
                    <a:alpha val="63000"/>
                  </a:srgbClr>
                </a:gs>
                <a:gs pos="100000">
                  <a:srgbClr val="000000">
                    <a:alpha val="590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92FEFE">
                      <a:alpha val="100000"/>
                    </a:srgbClr>
                  </a:gs>
                  <a:gs pos="100000">
                    <a:srgbClr val="3894BB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495026" cy="621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398137" y="5417936"/>
            <a:ext cx="8299870" cy="1910425"/>
            <a:chOff x="0" y="0"/>
            <a:chExt cx="2495026" cy="5742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95026" cy="574293"/>
            </a:xfrm>
            <a:custGeom>
              <a:avLst/>
              <a:gdLst/>
              <a:ahLst/>
              <a:cxnLst/>
              <a:rect r="r" b="b" t="t" l="l"/>
              <a:pathLst>
                <a:path h="574293" w="2495026">
                  <a:moveTo>
                    <a:pt x="0" y="0"/>
                  </a:moveTo>
                  <a:lnTo>
                    <a:pt x="2495026" y="0"/>
                  </a:lnTo>
                  <a:lnTo>
                    <a:pt x="2495026" y="574293"/>
                  </a:lnTo>
                  <a:lnTo>
                    <a:pt x="0" y="574293"/>
                  </a:lnTo>
                  <a:close/>
                </a:path>
              </a:pathLst>
            </a:custGeom>
            <a:gradFill rotWithShape="true">
              <a:gsLst>
                <a:gs pos="0">
                  <a:srgbClr val="000102">
                    <a:alpha val="63000"/>
                  </a:srgbClr>
                </a:gs>
                <a:gs pos="100000">
                  <a:srgbClr val="000000">
                    <a:alpha val="590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92FEFE">
                      <a:alpha val="100000"/>
                    </a:srgbClr>
                  </a:gs>
                  <a:gs pos="100000">
                    <a:srgbClr val="3894BB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495026" cy="621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398137" y="7478574"/>
            <a:ext cx="8299870" cy="1910425"/>
            <a:chOff x="0" y="0"/>
            <a:chExt cx="2495026" cy="57429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95026" cy="574293"/>
            </a:xfrm>
            <a:custGeom>
              <a:avLst/>
              <a:gdLst/>
              <a:ahLst/>
              <a:cxnLst/>
              <a:rect r="r" b="b" t="t" l="l"/>
              <a:pathLst>
                <a:path h="574293" w="2495026">
                  <a:moveTo>
                    <a:pt x="0" y="0"/>
                  </a:moveTo>
                  <a:lnTo>
                    <a:pt x="2495026" y="0"/>
                  </a:lnTo>
                  <a:lnTo>
                    <a:pt x="2495026" y="574293"/>
                  </a:lnTo>
                  <a:lnTo>
                    <a:pt x="0" y="574293"/>
                  </a:lnTo>
                  <a:close/>
                </a:path>
              </a:pathLst>
            </a:custGeom>
            <a:gradFill rotWithShape="true">
              <a:gsLst>
                <a:gs pos="0">
                  <a:srgbClr val="000102">
                    <a:alpha val="63000"/>
                  </a:srgbClr>
                </a:gs>
                <a:gs pos="100000">
                  <a:srgbClr val="000000">
                    <a:alpha val="590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92FEFE">
                      <a:alpha val="100000"/>
                    </a:srgbClr>
                  </a:gs>
                  <a:gs pos="100000">
                    <a:srgbClr val="3894BB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495026" cy="621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5350172"/>
            <a:ext cx="5041088" cy="592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60"/>
              </a:lnSpc>
              <a:spcBef>
                <a:spcPct val="0"/>
              </a:spcBef>
            </a:pPr>
            <a:r>
              <a:rPr lang="en-US" sz="2543">
                <a:solidFill>
                  <a:srgbClr val="8FE3FD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Gestión de Audio en HTML5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239090"/>
            <a:ext cx="4944029" cy="122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90"/>
              </a:lnSpc>
              <a:spcBef>
                <a:spcPct val="0"/>
              </a:spcBef>
            </a:pPr>
            <a:r>
              <a:rPr lang="en-US" sz="5207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AUDIO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689671" y="1576625"/>
            <a:ext cx="1416932" cy="141693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689671" y="3633420"/>
            <a:ext cx="1416932" cy="141693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689671" y="5694058"/>
            <a:ext cx="1416932" cy="141693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689671" y="7754695"/>
            <a:ext cx="1416932" cy="1416932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8119093" y="1886457"/>
            <a:ext cx="558088" cy="797269"/>
          </a:xfrm>
          <a:custGeom>
            <a:avLst/>
            <a:gdLst/>
            <a:ahLst/>
            <a:cxnLst/>
            <a:rect r="r" b="b" t="t" l="l"/>
            <a:pathLst>
              <a:path h="797269" w="558088">
                <a:moveTo>
                  <a:pt x="0" y="0"/>
                </a:moveTo>
                <a:lnTo>
                  <a:pt x="558088" y="0"/>
                </a:lnTo>
                <a:lnTo>
                  <a:pt x="558088" y="797269"/>
                </a:lnTo>
                <a:lnTo>
                  <a:pt x="0" y="797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9" id="29"/>
          <p:cNvSpPr txBox="true"/>
          <p:nvPr/>
        </p:nvSpPr>
        <p:spPr>
          <a:xfrm rot="0">
            <a:off x="9222614" y="1857882"/>
            <a:ext cx="7247363" cy="664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1"/>
              </a:lnSpc>
            </a:pPr>
            <a:r>
              <a:rPr lang="en-US" sz="1993" spc="63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Us</a:t>
            </a:r>
            <a:r>
              <a:rPr lang="en-US" sz="1993" spc="63" strike="noStrike" u="none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o de la etiqueta &lt;audio&gt; con controles nativos para asegurar compatibilidad y facilidad de uso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222614" y="3966009"/>
            <a:ext cx="7247363" cy="664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1"/>
              </a:lnSpc>
            </a:pPr>
            <a:r>
              <a:rPr lang="en-US" sz="1993" spc="63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Implementación de un audio con controles personalizados mediante JavaScript, ocultando los controles por defecto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06603" y="5550645"/>
            <a:ext cx="7247363" cy="1675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1"/>
              </a:lnSpc>
            </a:pPr>
            <a:r>
              <a:rPr lang="en-US" sz="1993" spc="63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M</a:t>
            </a:r>
            <a:r>
              <a:rPr lang="en-US" sz="1993" spc="63" strike="noStrike" u="none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odificación dinámica del audio mediante:</a:t>
            </a:r>
          </a:p>
          <a:p>
            <a:pPr algn="just" marL="430500" indent="-215250" lvl="1">
              <a:lnSpc>
                <a:spcPts val="2691"/>
              </a:lnSpc>
              <a:buFont typeface="Arial"/>
              <a:buChar char="•"/>
            </a:pPr>
            <a:r>
              <a:rPr lang="en-US" sz="1993" spc="63" strike="noStrike" u="none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Control de tono, alterando la percepción del sonido</a:t>
            </a:r>
          </a:p>
          <a:p>
            <a:pPr algn="just" marL="430500" indent="-215250" lvl="1">
              <a:lnSpc>
                <a:spcPts val="2691"/>
              </a:lnSpc>
              <a:buFont typeface="Arial"/>
              <a:buChar char="•"/>
            </a:pPr>
            <a:r>
              <a:rPr lang="en-US" sz="1993" spc="63" strike="noStrike" u="none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Control de velocidad, permitiendo reproducir el audio más lento o más rápido</a:t>
            </a:r>
          </a:p>
          <a:p>
            <a:pPr algn="just" marL="0" indent="0" lvl="0">
              <a:lnSpc>
                <a:spcPts val="2691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9222614" y="8116661"/>
            <a:ext cx="7247363" cy="664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1"/>
              </a:lnSpc>
            </a:pPr>
            <a:r>
              <a:rPr lang="en-US" sz="1993" spc="63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Inclusión de funcionalidades extra como la d</a:t>
            </a:r>
            <a:r>
              <a:rPr lang="en-US" sz="1993" spc="63" strike="noStrike" u="none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escarga directa del archivo, mejorando la experiencia del usuario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7914805" y="5905898"/>
            <a:ext cx="931949" cy="931949"/>
          </a:xfrm>
          <a:custGeom>
            <a:avLst/>
            <a:gdLst/>
            <a:ahLst/>
            <a:cxnLst/>
            <a:rect r="r" b="b" t="t" l="l"/>
            <a:pathLst>
              <a:path h="931949" w="931949">
                <a:moveTo>
                  <a:pt x="0" y="0"/>
                </a:moveTo>
                <a:lnTo>
                  <a:pt x="931948" y="0"/>
                </a:lnTo>
                <a:lnTo>
                  <a:pt x="931948" y="931949"/>
                </a:lnTo>
                <a:lnTo>
                  <a:pt x="0" y="9319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7949521" y="8014545"/>
            <a:ext cx="897233" cy="897233"/>
          </a:xfrm>
          <a:custGeom>
            <a:avLst/>
            <a:gdLst/>
            <a:ahLst/>
            <a:cxnLst/>
            <a:rect r="r" b="b" t="t" l="l"/>
            <a:pathLst>
              <a:path h="897233" w="897233">
                <a:moveTo>
                  <a:pt x="0" y="0"/>
                </a:moveTo>
                <a:lnTo>
                  <a:pt x="897232" y="0"/>
                </a:lnTo>
                <a:lnTo>
                  <a:pt x="897232" y="897233"/>
                </a:lnTo>
                <a:lnTo>
                  <a:pt x="0" y="8972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7853931" y="3944757"/>
            <a:ext cx="992822" cy="794258"/>
          </a:xfrm>
          <a:custGeom>
            <a:avLst/>
            <a:gdLst/>
            <a:ahLst/>
            <a:cxnLst/>
            <a:rect r="r" b="b" t="t" l="l"/>
            <a:pathLst>
              <a:path h="794258" w="992822">
                <a:moveTo>
                  <a:pt x="0" y="0"/>
                </a:moveTo>
                <a:lnTo>
                  <a:pt x="992822" y="0"/>
                </a:lnTo>
                <a:lnTo>
                  <a:pt x="992822" y="794258"/>
                </a:lnTo>
                <a:lnTo>
                  <a:pt x="0" y="7942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10365" y="5311370"/>
            <a:ext cx="5122494" cy="2187840"/>
          </a:xfrm>
          <a:custGeom>
            <a:avLst/>
            <a:gdLst/>
            <a:ahLst/>
            <a:cxnLst/>
            <a:rect r="r" b="b" t="t" l="l"/>
            <a:pathLst>
              <a:path h="2187840" w="5122494">
                <a:moveTo>
                  <a:pt x="0" y="0"/>
                </a:moveTo>
                <a:lnTo>
                  <a:pt x="5122494" y="0"/>
                </a:lnTo>
                <a:lnTo>
                  <a:pt x="5122494" y="2187841"/>
                </a:lnTo>
                <a:lnTo>
                  <a:pt x="0" y="21878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49" t="0" r="-774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57586" y="5468696"/>
            <a:ext cx="5398087" cy="1924071"/>
          </a:xfrm>
          <a:custGeom>
            <a:avLst/>
            <a:gdLst/>
            <a:ahLst/>
            <a:cxnLst/>
            <a:rect r="r" b="b" t="t" l="l"/>
            <a:pathLst>
              <a:path h="1924071" w="5398087">
                <a:moveTo>
                  <a:pt x="0" y="0"/>
                </a:moveTo>
                <a:lnTo>
                  <a:pt x="5398087" y="0"/>
                </a:lnTo>
                <a:lnTo>
                  <a:pt x="5398087" y="1924071"/>
                </a:lnTo>
                <a:lnTo>
                  <a:pt x="0" y="19240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5530445"/>
            <a:ext cx="5157815" cy="1041726"/>
          </a:xfrm>
          <a:custGeom>
            <a:avLst/>
            <a:gdLst/>
            <a:ahLst/>
            <a:cxnLst/>
            <a:rect r="r" b="b" t="t" l="l"/>
            <a:pathLst>
              <a:path h="1041726" w="5157815">
                <a:moveTo>
                  <a:pt x="0" y="0"/>
                </a:moveTo>
                <a:lnTo>
                  <a:pt x="5157815" y="0"/>
                </a:lnTo>
                <a:lnTo>
                  <a:pt x="5157815" y="1041727"/>
                </a:lnTo>
                <a:lnTo>
                  <a:pt x="0" y="10417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760352"/>
            <a:ext cx="1795619" cy="155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85"/>
              </a:lnSpc>
              <a:spcBef>
                <a:spcPct val="0"/>
              </a:spcBef>
            </a:pPr>
            <a:r>
              <a:rPr lang="en-US" sz="9061">
                <a:solidFill>
                  <a:srgbClr val="8FE3FD"/>
                </a:solidFill>
                <a:latin typeface="Saira Extra-Light"/>
                <a:ea typeface="Saira Extra-Light"/>
                <a:cs typeface="Saira Extra-Light"/>
                <a:sym typeface="Saira Extra-Light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10629" y="3760352"/>
            <a:ext cx="2547552" cy="155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85"/>
              </a:lnSpc>
              <a:spcBef>
                <a:spcPct val="0"/>
              </a:spcBef>
            </a:pPr>
            <a:r>
              <a:rPr lang="en-US" sz="9061">
                <a:solidFill>
                  <a:srgbClr val="8FE3FD"/>
                </a:solidFill>
                <a:latin typeface="Saira Extra-Light"/>
                <a:ea typeface="Saira Extra-Light"/>
                <a:cs typeface="Saira Extra-Light"/>
                <a:sym typeface="Saira Extra-Light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9517" y="1065066"/>
            <a:ext cx="10265420" cy="129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24"/>
              </a:lnSpc>
              <a:spcBef>
                <a:spcPct val="0"/>
              </a:spcBef>
            </a:pPr>
            <a:r>
              <a:rPr lang="en-US" sz="5517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VÍDEO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9517" y="7583117"/>
            <a:ext cx="4833470" cy="1338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1"/>
              </a:lnSpc>
            </a:pPr>
            <a:r>
              <a:rPr lang="en-US" sz="1993" spc="63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Comparación entre un vídeo con controles nativos y otro con controles personalizados para entender las ventajas de cada uno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9517" y="2541803"/>
            <a:ext cx="10701695" cy="453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82"/>
              </a:lnSpc>
            </a:pPr>
            <a:r>
              <a:rPr lang="en-US" sz="2801" spc="89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G</a:t>
            </a:r>
            <a:r>
              <a:rPr lang="en-US" sz="2801" spc="89" strike="noStrike" u="none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estión de Vídeo en HTML5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41447" y="7583117"/>
            <a:ext cx="4833470" cy="1675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1"/>
              </a:lnSpc>
            </a:pPr>
            <a:r>
              <a:rPr lang="en-US" sz="1993" spc="63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C</a:t>
            </a:r>
            <a:r>
              <a:rPr lang="en-US" sz="1993" spc="63" strike="noStrike" u="none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reación de controles propios mediante JavaScript para gestionar:</a:t>
            </a:r>
          </a:p>
          <a:p>
            <a:pPr algn="just" marL="430500" indent="-215250" lvl="1">
              <a:lnSpc>
                <a:spcPts val="2691"/>
              </a:lnSpc>
              <a:buFont typeface="Arial"/>
              <a:buChar char="•"/>
            </a:pPr>
            <a:r>
              <a:rPr lang="en-US" sz="1993" spc="63" strike="noStrike" u="none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Reproducción y pausa</a:t>
            </a:r>
          </a:p>
          <a:p>
            <a:pPr algn="just" marL="430500" indent="-215250" lvl="1">
              <a:lnSpc>
                <a:spcPts val="2691"/>
              </a:lnSpc>
              <a:buFont typeface="Arial"/>
              <a:buChar char="•"/>
            </a:pPr>
            <a:r>
              <a:rPr lang="en-US" sz="1993" spc="63" strike="noStrike" u="none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Volumen y mute</a:t>
            </a:r>
          </a:p>
          <a:p>
            <a:pPr algn="just" marL="430500" indent="-215250" lvl="1">
              <a:lnSpc>
                <a:spcPts val="2691"/>
              </a:lnSpc>
              <a:buFont typeface="Arial"/>
              <a:buChar char="•"/>
            </a:pPr>
            <a:r>
              <a:rPr lang="en-US" sz="1993" spc="63" strike="noStrike" u="none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Barra de progreso interactiva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89267" y="3760352"/>
            <a:ext cx="2667363" cy="155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85"/>
              </a:lnSpc>
              <a:spcBef>
                <a:spcPct val="0"/>
              </a:spcBef>
            </a:pPr>
            <a:r>
              <a:rPr lang="en-US" sz="9061">
                <a:solidFill>
                  <a:srgbClr val="8FE3FD"/>
                </a:solidFill>
                <a:latin typeface="Saira Extra-Light"/>
                <a:ea typeface="Saira Extra-Light"/>
                <a:cs typeface="Saira Extra-Light"/>
                <a:sym typeface="Saira Extra-Light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20084" y="7583117"/>
            <a:ext cx="4833470" cy="1675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1"/>
              </a:lnSpc>
            </a:pPr>
            <a:r>
              <a:rPr lang="en-US" sz="1993" spc="63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Us</a:t>
            </a:r>
            <a:r>
              <a:rPr lang="en-US" sz="1993" spc="63" strike="noStrike" u="none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o de funcionalidades avanzadas de la API Multimedia como:</a:t>
            </a:r>
          </a:p>
          <a:p>
            <a:pPr algn="just" marL="430500" indent="-215250" lvl="1">
              <a:lnSpc>
                <a:spcPts val="2691"/>
              </a:lnSpc>
              <a:buFont typeface="Arial"/>
              <a:buChar char="•"/>
            </a:pPr>
            <a:r>
              <a:rPr lang="en-US" sz="1993" spc="63" strike="noStrike" u="none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Picture-in-Picture</a:t>
            </a:r>
          </a:p>
          <a:p>
            <a:pPr algn="just" marL="430500" indent="-215250" lvl="1">
              <a:lnSpc>
                <a:spcPts val="2691"/>
              </a:lnSpc>
              <a:buFont typeface="Arial"/>
              <a:buChar char="•"/>
            </a:pPr>
            <a:r>
              <a:rPr lang="en-US" sz="1993" spc="63" strike="noStrike" u="none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Pantalla completa (Fullscreen)</a:t>
            </a:r>
          </a:p>
          <a:p>
            <a:pPr algn="just" marL="0" indent="0" lvl="0">
              <a:lnSpc>
                <a:spcPts val="2691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75831" y="2333637"/>
            <a:ext cx="13439999" cy="42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34"/>
              </a:lnSpc>
            </a:pPr>
            <a:r>
              <a:rPr lang="en-US" sz="2618" spc="83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G</a:t>
            </a:r>
            <a:r>
              <a:rPr lang="en-US" sz="2618" spc="83" strike="noStrike" u="none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estión y Manipulación de Imágenes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621448" y="6216287"/>
            <a:ext cx="4988763" cy="3872852"/>
          </a:xfrm>
          <a:custGeom>
            <a:avLst/>
            <a:gdLst/>
            <a:ahLst/>
            <a:cxnLst/>
            <a:rect r="r" b="b" t="t" l="l"/>
            <a:pathLst>
              <a:path h="3872852" w="4988763">
                <a:moveTo>
                  <a:pt x="0" y="0"/>
                </a:moveTo>
                <a:lnTo>
                  <a:pt x="4988763" y="0"/>
                </a:lnTo>
                <a:lnTo>
                  <a:pt x="4988763" y="3872852"/>
                </a:lnTo>
                <a:lnTo>
                  <a:pt x="0" y="38728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150" t="0" r="-815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6386" y="3865215"/>
            <a:ext cx="13060616" cy="212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3145" indent="-271573" lvl="1">
              <a:lnSpc>
                <a:spcPts val="3396"/>
              </a:lnSpc>
              <a:buFont typeface="Arial"/>
              <a:buChar char="•"/>
            </a:pPr>
            <a:r>
              <a:rPr lang="en-US" sz="2515" spc="80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Uso de una imagen estática como referencia visual sin ningún tipo de efecto</a:t>
            </a:r>
          </a:p>
          <a:p>
            <a:pPr algn="l" marL="543145" indent="-271573" lvl="1">
              <a:lnSpc>
                <a:spcPts val="3396"/>
              </a:lnSpc>
              <a:buFont typeface="Arial"/>
              <a:buChar char="•"/>
            </a:pPr>
            <a:r>
              <a:rPr lang="en-US" sz="2515" spc="80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Aplicación de zoom dinámico mediante transformaciones CSS (scale)</a:t>
            </a:r>
          </a:p>
          <a:p>
            <a:pPr algn="just" marL="543145" indent="-271573" lvl="1">
              <a:lnSpc>
                <a:spcPts val="3396"/>
              </a:lnSpc>
              <a:buFont typeface="Arial"/>
              <a:buChar char="•"/>
            </a:pPr>
            <a:r>
              <a:rPr lang="en-US" sz="2515" spc="80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Control progresivo de la opacidad, creando efectos de transparencia</a:t>
            </a:r>
          </a:p>
          <a:p>
            <a:pPr algn="l" marL="543145" indent="-271573" lvl="1">
              <a:lnSpc>
                <a:spcPts val="3396"/>
              </a:lnSpc>
              <a:buFont typeface="Arial"/>
              <a:buChar char="•"/>
            </a:pPr>
            <a:r>
              <a:rPr lang="en-US" sz="2515" spc="80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Rotación de la imagen en tiempo real usando transformaciones (rotate)</a:t>
            </a:r>
          </a:p>
          <a:p>
            <a:pPr algn="ctr" marL="543145" indent="-271573" lvl="1">
              <a:lnSpc>
                <a:spcPts val="3396"/>
              </a:lnSpc>
              <a:buFont typeface="Arial"/>
              <a:buChar char="•"/>
            </a:pPr>
            <a:r>
              <a:rPr lang="en-US" sz="2515" spc="80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Implementación de un botón reset para restaurar el estado original de la imagen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6386" y="686325"/>
            <a:ext cx="9656408" cy="1685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03"/>
              </a:lnSpc>
              <a:spcBef>
                <a:spcPct val="0"/>
              </a:spcBef>
            </a:pPr>
            <a:r>
              <a:rPr lang="en-US" sz="7145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Imagenes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3299" y="3347618"/>
            <a:ext cx="14942767" cy="5754929"/>
            <a:chOff x="0" y="0"/>
            <a:chExt cx="3935544" cy="15157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5543" cy="1515701"/>
            </a:xfrm>
            <a:custGeom>
              <a:avLst/>
              <a:gdLst/>
              <a:ahLst/>
              <a:cxnLst/>
              <a:rect r="r" b="b" t="t" l="l"/>
              <a:pathLst>
                <a:path h="1515701" w="3935543">
                  <a:moveTo>
                    <a:pt x="0" y="0"/>
                  </a:moveTo>
                  <a:lnTo>
                    <a:pt x="3935543" y="0"/>
                  </a:lnTo>
                  <a:lnTo>
                    <a:pt x="3935543" y="1515701"/>
                  </a:lnTo>
                  <a:lnTo>
                    <a:pt x="0" y="1515701"/>
                  </a:lnTo>
                  <a:close/>
                </a:path>
              </a:pathLst>
            </a:custGeom>
            <a:gradFill rotWithShape="true">
              <a:gsLst>
                <a:gs pos="0">
                  <a:srgbClr val="000102">
                    <a:alpha val="63000"/>
                  </a:srgbClr>
                </a:gs>
                <a:gs pos="100000">
                  <a:srgbClr val="000000">
                    <a:alpha val="590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92FEFE">
                      <a:alpha val="100000"/>
                    </a:srgbClr>
                  </a:gs>
                  <a:gs pos="100000">
                    <a:srgbClr val="3894BB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935544" cy="1563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29835" y="5011911"/>
            <a:ext cx="2870944" cy="582307"/>
            <a:chOff x="0" y="0"/>
            <a:chExt cx="584971" cy="118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4971" cy="118648"/>
            </a:xfrm>
            <a:custGeom>
              <a:avLst/>
              <a:gdLst/>
              <a:ahLst/>
              <a:cxnLst/>
              <a:rect r="r" b="b" t="t" l="l"/>
              <a:pathLst>
                <a:path h="118648" w="584971">
                  <a:moveTo>
                    <a:pt x="18877" y="0"/>
                  </a:moveTo>
                  <a:lnTo>
                    <a:pt x="566095" y="0"/>
                  </a:lnTo>
                  <a:cubicBezTo>
                    <a:pt x="576520" y="0"/>
                    <a:pt x="584971" y="8451"/>
                    <a:pt x="584971" y="18877"/>
                  </a:cubicBezTo>
                  <a:lnTo>
                    <a:pt x="584971" y="99772"/>
                  </a:lnTo>
                  <a:cubicBezTo>
                    <a:pt x="584971" y="104778"/>
                    <a:pt x="582983" y="109580"/>
                    <a:pt x="579443" y="113120"/>
                  </a:cubicBezTo>
                  <a:cubicBezTo>
                    <a:pt x="575903" y="116660"/>
                    <a:pt x="571101" y="118648"/>
                    <a:pt x="566095" y="118648"/>
                  </a:cubicBezTo>
                  <a:lnTo>
                    <a:pt x="18877" y="118648"/>
                  </a:lnTo>
                  <a:cubicBezTo>
                    <a:pt x="8451" y="118648"/>
                    <a:pt x="0" y="110197"/>
                    <a:pt x="0" y="99772"/>
                  </a:cubicBezTo>
                  <a:lnTo>
                    <a:pt x="0" y="18877"/>
                  </a:lnTo>
                  <a:cubicBezTo>
                    <a:pt x="0" y="13870"/>
                    <a:pt x="1989" y="9069"/>
                    <a:pt x="5529" y="5529"/>
                  </a:cubicBezTo>
                  <a:cubicBezTo>
                    <a:pt x="9069" y="1989"/>
                    <a:pt x="13870" y="0"/>
                    <a:pt x="188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84971" cy="166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128"/>
                </a:lnSpc>
                <a:spcBef>
                  <a:spcPct val="0"/>
                </a:spcBef>
              </a:pPr>
              <a:r>
                <a:rPr lang="en-US" b="true" sz="2234" spc="147">
                  <a:solidFill>
                    <a:srgbClr val="181B2E"/>
                  </a:solidFill>
                  <a:latin typeface="Saira Bold"/>
                  <a:ea typeface="Saira Bold"/>
                  <a:cs typeface="Saira Bold"/>
                  <a:sym typeface="Saira Bold"/>
                </a:rPr>
                <a:t>Interactividad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587221" y="5011911"/>
            <a:ext cx="2870944" cy="582307"/>
            <a:chOff x="0" y="0"/>
            <a:chExt cx="584971" cy="1186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4971" cy="118648"/>
            </a:xfrm>
            <a:custGeom>
              <a:avLst/>
              <a:gdLst/>
              <a:ahLst/>
              <a:cxnLst/>
              <a:rect r="r" b="b" t="t" l="l"/>
              <a:pathLst>
                <a:path h="118648" w="584971">
                  <a:moveTo>
                    <a:pt x="18877" y="0"/>
                  </a:moveTo>
                  <a:lnTo>
                    <a:pt x="566095" y="0"/>
                  </a:lnTo>
                  <a:cubicBezTo>
                    <a:pt x="576520" y="0"/>
                    <a:pt x="584971" y="8451"/>
                    <a:pt x="584971" y="18877"/>
                  </a:cubicBezTo>
                  <a:lnTo>
                    <a:pt x="584971" y="99772"/>
                  </a:lnTo>
                  <a:cubicBezTo>
                    <a:pt x="584971" y="104778"/>
                    <a:pt x="582983" y="109580"/>
                    <a:pt x="579443" y="113120"/>
                  </a:cubicBezTo>
                  <a:cubicBezTo>
                    <a:pt x="575903" y="116660"/>
                    <a:pt x="571101" y="118648"/>
                    <a:pt x="566095" y="118648"/>
                  </a:cubicBezTo>
                  <a:lnTo>
                    <a:pt x="18877" y="118648"/>
                  </a:lnTo>
                  <a:cubicBezTo>
                    <a:pt x="8451" y="118648"/>
                    <a:pt x="0" y="110197"/>
                    <a:pt x="0" y="99772"/>
                  </a:cubicBezTo>
                  <a:lnTo>
                    <a:pt x="0" y="18877"/>
                  </a:lnTo>
                  <a:cubicBezTo>
                    <a:pt x="0" y="13870"/>
                    <a:pt x="1989" y="9069"/>
                    <a:pt x="5529" y="5529"/>
                  </a:cubicBezTo>
                  <a:cubicBezTo>
                    <a:pt x="9069" y="1989"/>
                    <a:pt x="13870" y="0"/>
                    <a:pt x="188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84971" cy="166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128"/>
                </a:lnSpc>
                <a:spcBef>
                  <a:spcPct val="0"/>
                </a:spcBef>
              </a:pPr>
              <a:r>
                <a:rPr lang="en-US" b="true" sz="2234" spc="147">
                  <a:solidFill>
                    <a:srgbClr val="181B2E"/>
                  </a:solidFill>
                  <a:latin typeface="Saira Bold"/>
                  <a:ea typeface="Saira Bold"/>
                  <a:cs typeface="Saira Bold"/>
                  <a:sym typeface="Saira Bold"/>
                </a:rPr>
                <a:t>Presentación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013095" y="3325024"/>
            <a:ext cx="7937194" cy="122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90"/>
              </a:lnSpc>
              <a:spcBef>
                <a:spcPct val="0"/>
              </a:spcBef>
            </a:pPr>
            <a:r>
              <a:rPr lang="en-US" sz="5207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JAVASCRIPT Y CSS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29835" y="5830747"/>
            <a:ext cx="2870944" cy="132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51"/>
              </a:lnSpc>
            </a:pPr>
            <a:r>
              <a:rPr lang="en-US" sz="1593" spc="51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Controla el comportamiento del audio y el vídeo: reproducir, pausar, cambiar velocidad, activar loop, mover la barra de progreso.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87221" y="5821222"/>
            <a:ext cx="2870944" cy="151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21"/>
              </a:lnSpc>
            </a:pPr>
            <a:r>
              <a:rPr lang="en-US" sz="1793" spc="57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M</a:t>
            </a:r>
            <a:r>
              <a:rPr lang="en-US" sz="1793" spc="57" strike="noStrike" u="none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ejora la interacción: efectos hover, botones personalizados y una interfaz más clara y agradable.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058786" y="5011911"/>
            <a:ext cx="2870944" cy="582307"/>
            <a:chOff x="0" y="0"/>
            <a:chExt cx="584971" cy="1186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4971" cy="118648"/>
            </a:xfrm>
            <a:custGeom>
              <a:avLst/>
              <a:gdLst/>
              <a:ahLst/>
              <a:cxnLst/>
              <a:rect r="r" b="b" t="t" l="l"/>
              <a:pathLst>
                <a:path h="118648" w="584971">
                  <a:moveTo>
                    <a:pt x="18877" y="0"/>
                  </a:moveTo>
                  <a:lnTo>
                    <a:pt x="566095" y="0"/>
                  </a:lnTo>
                  <a:cubicBezTo>
                    <a:pt x="576520" y="0"/>
                    <a:pt x="584971" y="8451"/>
                    <a:pt x="584971" y="18877"/>
                  </a:cubicBezTo>
                  <a:lnTo>
                    <a:pt x="584971" y="99772"/>
                  </a:lnTo>
                  <a:cubicBezTo>
                    <a:pt x="584971" y="104778"/>
                    <a:pt x="582983" y="109580"/>
                    <a:pt x="579443" y="113120"/>
                  </a:cubicBezTo>
                  <a:cubicBezTo>
                    <a:pt x="575903" y="116660"/>
                    <a:pt x="571101" y="118648"/>
                    <a:pt x="566095" y="118648"/>
                  </a:cubicBezTo>
                  <a:lnTo>
                    <a:pt x="18877" y="118648"/>
                  </a:lnTo>
                  <a:cubicBezTo>
                    <a:pt x="8451" y="118648"/>
                    <a:pt x="0" y="110197"/>
                    <a:pt x="0" y="99772"/>
                  </a:cubicBezTo>
                  <a:lnTo>
                    <a:pt x="0" y="18877"/>
                  </a:lnTo>
                  <a:cubicBezTo>
                    <a:pt x="0" y="13870"/>
                    <a:pt x="1989" y="9069"/>
                    <a:pt x="5529" y="5529"/>
                  </a:cubicBezTo>
                  <a:cubicBezTo>
                    <a:pt x="9069" y="1989"/>
                    <a:pt x="13870" y="0"/>
                    <a:pt x="188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84971" cy="166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128"/>
                </a:lnSpc>
                <a:spcBef>
                  <a:spcPct val="0"/>
                </a:spcBef>
              </a:pPr>
              <a:r>
                <a:rPr lang="en-US" b="true" sz="2234" spc="147">
                  <a:solidFill>
                    <a:srgbClr val="181B2E"/>
                  </a:solidFill>
                  <a:latin typeface="Saira Bold"/>
                  <a:ea typeface="Saira Bold"/>
                  <a:cs typeface="Saira Bold"/>
                  <a:sym typeface="Saira Bold"/>
                </a:rPr>
                <a:t>Reproductor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058786" y="5821222"/>
            <a:ext cx="2922906" cy="151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21"/>
              </a:lnSpc>
            </a:pPr>
            <a:r>
              <a:rPr lang="en-US" sz="1793" spc="57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Modifica elementos en tiempo real: actualiza tiempos, cambia iconos, aplica transformaciones a imágenes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48984" y="5011911"/>
            <a:ext cx="2870944" cy="582307"/>
            <a:chOff x="0" y="0"/>
            <a:chExt cx="584971" cy="1186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4971" cy="118648"/>
            </a:xfrm>
            <a:custGeom>
              <a:avLst/>
              <a:gdLst/>
              <a:ahLst/>
              <a:cxnLst/>
              <a:rect r="r" b="b" t="t" l="l"/>
              <a:pathLst>
                <a:path h="118648" w="584971">
                  <a:moveTo>
                    <a:pt x="18877" y="0"/>
                  </a:moveTo>
                  <a:lnTo>
                    <a:pt x="566095" y="0"/>
                  </a:lnTo>
                  <a:cubicBezTo>
                    <a:pt x="576520" y="0"/>
                    <a:pt x="584971" y="8451"/>
                    <a:pt x="584971" y="18877"/>
                  </a:cubicBezTo>
                  <a:lnTo>
                    <a:pt x="584971" y="99772"/>
                  </a:lnTo>
                  <a:cubicBezTo>
                    <a:pt x="584971" y="104778"/>
                    <a:pt x="582983" y="109580"/>
                    <a:pt x="579443" y="113120"/>
                  </a:cubicBezTo>
                  <a:cubicBezTo>
                    <a:pt x="575903" y="116660"/>
                    <a:pt x="571101" y="118648"/>
                    <a:pt x="566095" y="118648"/>
                  </a:cubicBezTo>
                  <a:lnTo>
                    <a:pt x="18877" y="118648"/>
                  </a:lnTo>
                  <a:cubicBezTo>
                    <a:pt x="8451" y="118648"/>
                    <a:pt x="0" y="110197"/>
                    <a:pt x="0" y="99772"/>
                  </a:cubicBezTo>
                  <a:lnTo>
                    <a:pt x="0" y="18877"/>
                  </a:lnTo>
                  <a:cubicBezTo>
                    <a:pt x="0" y="13870"/>
                    <a:pt x="1989" y="9069"/>
                    <a:pt x="5529" y="5529"/>
                  </a:cubicBezTo>
                  <a:cubicBezTo>
                    <a:pt x="9069" y="1989"/>
                    <a:pt x="13870" y="0"/>
                    <a:pt x="188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584971" cy="166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128"/>
                </a:lnSpc>
                <a:spcBef>
                  <a:spcPct val="0"/>
                </a:spcBef>
              </a:pPr>
              <a:r>
                <a:rPr lang="en-US" b="true" sz="2234" spc="147">
                  <a:solidFill>
                    <a:srgbClr val="181B2E"/>
                  </a:solidFill>
                  <a:latin typeface="Saira Bold"/>
                  <a:ea typeface="Saira Bold"/>
                  <a:cs typeface="Saira Bold"/>
                  <a:sym typeface="Saira Bold"/>
                </a:rPr>
                <a:t>Diseño y Estilo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348984" y="5727877"/>
            <a:ext cx="2870944" cy="151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21"/>
              </a:lnSpc>
            </a:pPr>
            <a:r>
              <a:rPr lang="en-US" sz="1793" spc="57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Da esti</a:t>
            </a:r>
            <a:r>
              <a:rPr lang="en-US" sz="1793" spc="57" strike="noStrike" u="none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lo visual a la página: colores, tamaños, bordes, espaciados y organización de los elementos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22733" y="2423835"/>
            <a:ext cx="10266046" cy="2039401"/>
            <a:chOff x="0" y="0"/>
            <a:chExt cx="2045759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45759" cy="406400"/>
            </a:xfrm>
            <a:custGeom>
              <a:avLst/>
              <a:gdLst/>
              <a:ahLst/>
              <a:cxnLst/>
              <a:rect r="r" b="b" t="t" l="l"/>
              <a:pathLst>
                <a:path h="406400" w="2045759">
                  <a:moveTo>
                    <a:pt x="1842559" y="0"/>
                  </a:moveTo>
                  <a:cubicBezTo>
                    <a:pt x="1954783" y="0"/>
                    <a:pt x="2045759" y="90976"/>
                    <a:pt x="2045759" y="203200"/>
                  </a:cubicBezTo>
                  <a:cubicBezTo>
                    <a:pt x="2045759" y="315424"/>
                    <a:pt x="1954783" y="406400"/>
                    <a:pt x="184255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4575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22733" y="4720411"/>
            <a:ext cx="10266046" cy="2039401"/>
            <a:chOff x="0" y="0"/>
            <a:chExt cx="2045759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45759" cy="406400"/>
            </a:xfrm>
            <a:custGeom>
              <a:avLst/>
              <a:gdLst/>
              <a:ahLst/>
              <a:cxnLst/>
              <a:rect r="r" b="b" t="t" l="l"/>
              <a:pathLst>
                <a:path h="406400" w="2045759">
                  <a:moveTo>
                    <a:pt x="1842559" y="0"/>
                  </a:moveTo>
                  <a:cubicBezTo>
                    <a:pt x="1954783" y="0"/>
                    <a:pt x="2045759" y="90976"/>
                    <a:pt x="2045759" y="203200"/>
                  </a:cubicBezTo>
                  <a:cubicBezTo>
                    <a:pt x="2045759" y="315424"/>
                    <a:pt x="1954783" y="406400"/>
                    <a:pt x="184255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4575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22733" y="7016987"/>
            <a:ext cx="10266046" cy="2039401"/>
            <a:chOff x="0" y="0"/>
            <a:chExt cx="2045759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5759" cy="406400"/>
            </a:xfrm>
            <a:custGeom>
              <a:avLst/>
              <a:gdLst/>
              <a:ahLst/>
              <a:cxnLst/>
              <a:rect r="r" b="b" t="t" l="l"/>
              <a:pathLst>
                <a:path h="406400" w="2045759">
                  <a:moveTo>
                    <a:pt x="1842559" y="0"/>
                  </a:moveTo>
                  <a:cubicBezTo>
                    <a:pt x="1954783" y="0"/>
                    <a:pt x="2045759" y="90976"/>
                    <a:pt x="2045759" y="203200"/>
                  </a:cubicBezTo>
                  <a:cubicBezTo>
                    <a:pt x="2045759" y="315424"/>
                    <a:pt x="1954783" y="406400"/>
                    <a:pt x="184255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04575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689241" y="3091404"/>
            <a:ext cx="7570059" cy="5053526"/>
          </a:xfrm>
          <a:custGeom>
            <a:avLst/>
            <a:gdLst/>
            <a:ahLst/>
            <a:cxnLst/>
            <a:rect r="r" b="b" t="t" l="l"/>
            <a:pathLst>
              <a:path h="5053526" w="7570059">
                <a:moveTo>
                  <a:pt x="0" y="0"/>
                </a:moveTo>
                <a:lnTo>
                  <a:pt x="7570059" y="0"/>
                </a:lnTo>
                <a:lnTo>
                  <a:pt x="7570059" y="5053526"/>
                </a:lnTo>
                <a:lnTo>
                  <a:pt x="0" y="5053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36266" y="725788"/>
            <a:ext cx="7146131" cy="1436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79"/>
              </a:lnSpc>
              <a:spcBef>
                <a:spcPct val="0"/>
              </a:spcBef>
            </a:pPr>
            <a:r>
              <a:rPr lang="en-US" sz="6128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Conclusiones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30182" y="2743920"/>
            <a:ext cx="6236867" cy="142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80"/>
              </a:lnSpc>
            </a:pPr>
            <a:r>
              <a:rPr lang="en-US" b="true" sz="2133" spc="68" strike="noStrike" u="none">
                <a:solidFill>
                  <a:srgbClr val="0A1944"/>
                </a:solidFill>
                <a:latin typeface="Saira Medium"/>
                <a:ea typeface="Saira Medium"/>
                <a:cs typeface="Saira Medium"/>
                <a:sym typeface="Saira Medium"/>
              </a:rPr>
              <a:t>Las </a:t>
            </a:r>
            <a:r>
              <a:rPr lang="en-US" b="true" sz="2133" spc="68" strike="noStrike" u="none">
                <a:solidFill>
                  <a:srgbClr val="0A1944"/>
                </a:solidFill>
                <a:latin typeface="Saira Bold"/>
                <a:ea typeface="Saira Bold"/>
                <a:cs typeface="Saira Bold"/>
                <a:sym typeface="Saira Bold"/>
              </a:rPr>
              <a:t>imágenes </a:t>
            </a:r>
            <a:r>
              <a:rPr lang="en-US" b="true" sz="2133" spc="68" strike="noStrike" u="none">
                <a:solidFill>
                  <a:srgbClr val="0A1944"/>
                </a:solidFill>
                <a:latin typeface="Saira Medium"/>
                <a:ea typeface="Saira Medium"/>
                <a:cs typeface="Saira Medium"/>
                <a:sym typeface="Saira Medium"/>
              </a:rPr>
              <a:t>aportan identidad visual y permiten aplicar transformaciones como zoom, rotación u opacidad, haciendo la interacción más atractiva.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30182" y="5040495"/>
            <a:ext cx="6236867" cy="142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80"/>
              </a:lnSpc>
            </a:pPr>
            <a:r>
              <a:rPr lang="en-US" b="true" sz="2133" spc="68">
                <a:solidFill>
                  <a:srgbClr val="0A1944"/>
                </a:solidFill>
                <a:latin typeface="Saira Medium"/>
                <a:ea typeface="Saira Medium"/>
                <a:cs typeface="Saira Medium"/>
                <a:sym typeface="Saira Medium"/>
              </a:rPr>
              <a:t>El</a:t>
            </a:r>
            <a:r>
              <a:rPr lang="en-US" b="true" sz="2133" spc="68" strike="noStrike" u="none">
                <a:solidFill>
                  <a:srgbClr val="0A1944"/>
                </a:solidFill>
                <a:latin typeface="Saira Medium"/>
                <a:ea typeface="Saira Medium"/>
                <a:cs typeface="Saira Medium"/>
                <a:sym typeface="Saira Medium"/>
              </a:rPr>
              <a:t> </a:t>
            </a:r>
            <a:r>
              <a:rPr lang="en-US" b="true" sz="2133" spc="68" strike="noStrike" u="none">
                <a:solidFill>
                  <a:srgbClr val="0A1944"/>
                </a:solidFill>
                <a:latin typeface="Saira Bold"/>
                <a:ea typeface="Saira Bold"/>
                <a:cs typeface="Saira Bold"/>
                <a:sym typeface="Saira Bold"/>
              </a:rPr>
              <a:t>audio </a:t>
            </a:r>
            <a:r>
              <a:rPr lang="en-US" b="true" sz="2133" spc="68" strike="noStrike" u="none">
                <a:solidFill>
                  <a:srgbClr val="0A1944"/>
                </a:solidFill>
                <a:latin typeface="Saira Medium"/>
                <a:ea typeface="Saira Medium"/>
                <a:cs typeface="Saira Medium"/>
                <a:sym typeface="Saira Medium"/>
              </a:rPr>
              <a:t>ofrece controles personalizados como reproducción, velocidad o repetición, lo que facilita adaptar la experiencia a las necesidades del usuario.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30182" y="7337071"/>
            <a:ext cx="6236867" cy="142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80"/>
              </a:lnSpc>
            </a:pPr>
            <a:r>
              <a:rPr lang="en-US" b="true" sz="2133" spc="68">
                <a:solidFill>
                  <a:srgbClr val="0A1944"/>
                </a:solidFill>
                <a:latin typeface="Saira Medium"/>
                <a:ea typeface="Saira Medium"/>
                <a:cs typeface="Saira Medium"/>
                <a:sym typeface="Saira Medium"/>
              </a:rPr>
              <a:t>El </a:t>
            </a:r>
            <a:r>
              <a:rPr lang="en-US" b="true" sz="2133" spc="68">
                <a:solidFill>
                  <a:srgbClr val="0A1944"/>
                </a:solidFill>
                <a:latin typeface="Saira Bold"/>
                <a:ea typeface="Saira Bold"/>
                <a:cs typeface="Saira Bold"/>
                <a:sym typeface="Saira Bold"/>
              </a:rPr>
              <a:t>vídeo</a:t>
            </a:r>
            <a:r>
              <a:rPr lang="en-US" b="true" sz="2133" spc="68">
                <a:solidFill>
                  <a:srgbClr val="0A1944"/>
                </a:solidFill>
                <a:latin typeface="Saira Medium"/>
                <a:ea typeface="Saira Medium"/>
                <a:cs typeface="Saira Medium"/>
                <a:sym typeface="Saira Medium"/>
              </a:rPr>
              <a:t>, por su parte, combina controles avanzados como pantalla completa, demostrando la potencia </a:t>
            </a:r>
            <a:r>
              <a:rPr lang="en-US" b="true" sz="2133" spc="68" strike="noStrike" u="none">
                <a:solidFill>
                  <a:srgbClr val="0A1944"/>
                </a:solidFill>
                <a:latin typeface="Saira Medium"/>
                <a:ea typeface="Saira Medium"/>
                <a:cs typeface="Saira Medium"/>
                <a:sym typeface="Saira Medium"/>
              </a:rPr>
              <a:t>para gestionar contenido audiovisual de forma profesional.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5533" y="2388323"/>
            <a:ext cx="781467" cy="207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884"/>
              </a:lnSpc>
              <a:spcBef>
                <a:spcPct val="0"/>
              </a:spcBef>
            </a:pPr>
            <a:r>
              <a:rPr lang="en-US" b="true" sz="12060">
                <a:solidFill>
                  <a:srgbClr val="0A1944"/>
                </a:solidFill>
                <a:latin typeface="Saira Bold"/>
                <a:ea typeface="Saira Bold"/>
                <a:cs typeface="Saira Bold"/>
                <a:sym typeface="Saira Bold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5533" y="4684899"/>
            <a:ext cx="781467" cy="207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884"/>
              </a:lnSpc>
              <a:spcBef>
                <a:spcPct val="0"/>
              </a:spcBef>
            </a:pPr>
            <a:r>
              <a:rPr lang="en-US" b="true" sz="12060">
                <a:solidFill>
                  <a:srgbClr val="0A1944"/>
                </a:solidFill>
                <a:latin typeface="Saira Bold"/>
                <a:ea typeface="Saira Bold"/>
                <a:cs typeface="Saira Bold"/>
                <a:sym typeface="Saira 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5533" y="6988412"/>
            <a:ext cx="781467" cy="207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884"/>
              </a:lnSpc>
              <a:spcBef>
                <a:spcPct val="0"/>
              </a:spcBef>
            </a:pPr>
            <a:r>
              <a:rPr lang="en-US" b="true" sz="12060">
                <a:solidFill>
                  <a:srgbClr val="0A1944"/>
                </a:solidFill>
                <a:latin typeface="Saira Bold"/>
                <a:ea typeface="Saira Bold"/>
                <a:cs typeface="Saira Bold"/>
                <a:sym typeface="Saira Bold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DAG-UQLeNyU</dc:identifier>
  <dcterms:modified xsi:type="dcterms:W3CDTF">2011-08-01T06:04:30Z</dcterms:modified>
  <cp:revision>1</cp:revision>
  <dc:title>Gestión Multimedia en HTML5</dc:title>
</cp:coreProperties>
</file>